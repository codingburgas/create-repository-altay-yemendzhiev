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Montserrat Bold" charset="1" panose="00000800000000000000"/>
      <p:regular r:id="rId11"/>
    </p:embeddedFont>
    <p:embeddedFont>
      <p:font typeface="Montserrat" charset="1" panose="00000500000000000000"/>
      <p:regular r:id="rId12"/>
    </p:embeddedFont>
    <p:embeddedFont>
      <p:font typeface="Open Sans Bold" charset="1" panose="000000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650744" cy="515862"/>
          </a:xfrm>
          <a:custGeom>
            <a:avLst/>
            <a:gdLst/>
            <a:ahLst/>
            <a:cxnLst/>
            <a:rect r="r" b="b" t="t" l="l"/>
            <a:pathLst>
              <a:path h="515862" w="650744">
                <a:moveTo>
                  <a:pt x="0" y="0"/>
                </a:moveTo>
                <a:lnTo>
                  <a:pt x="650744" y="0"/>
                </a:lnTo>
                <a:lnTo>
                  <a:pt x="650744" y="515862"/>
                </a:lnTo>
                <a:lnTo>
                  <a:pt x="0" y="515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54367" y="8594705"/>
            <a:ext cx="425077" cy="42507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5" id="5"/>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6" id="6"/>
          <p:cNvGrpSpPr/>
          <p:nvPr/>
        </p:nvGrpSpPr>
        <p:grpSpPr>
          <a:xfrm rot="0">
            <a:off x="16429463" y="8593190"/>
            <a:ext cx="293547" cy="29354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4712738" y="3062301"/>
            <a:ext cx="1137437" cy="113743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1" id="11"/>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2" id="12"/>
          <p:cNvGrpSpPr/>
          <p:nvPr/>
        </p:nvGrpSpPr>
        <p:grpSpPr>
          <a:xfrm rot="0">
            <a:off x="15850174" y="4027160"/>
            <a:ext cx="349058" cy="34905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5" id="15"/>
          <p:cNvGrpSpPr/>
          <p:nvPr/>
        </p:nvGrpSpPr>
        <p:grpSpPr>
          <a:xfrm rot="0">
            <a:off x="-418546" y="8807243"/>
            <a:ext cx="1971124" cy="197112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7" id="17"/>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8" id="18"/>
          <p:cNvGrpSpPr/>
          <p:nvPr/>
        </p:nvGrpSpPr>
        <p:grpSpPr>
          <a:xfrm rot="0">
            <a:off x="2425708" y="3374103"/>
            <a:ext cx="345156" cy="34515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20" id="2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21" id="21"/>
          <p:cNvGrpSpPr/>
          <p:nvPr/>
        </p:nvGrpSpPr>
        <p:grpSpPr>
          <a:xfrm rot="0">
            <a:off x="2744194" y="3269541"/>
            <a:ext cx="155786" cy="15578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23" id="23"/>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24" id="24"/>
          <p:cNvSpPr/>
          <p:nvPr/>
        </p:nvSpPr>
        <p:spPr>
          <a:xfrm flipH="false" flipV="false" rot="0">
            <a:off x="5965521" y="1544562"/>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4"/>
            <a:stretch>
              <a:fillRect l="0" t="0" r="0" b="0"/>
            </a:stretch>
          </a:blipFill>
        </p:spPr>
      </p:sp>
      <p:sp>
        <p:nvSpPr>
          <p:cNvPr name="TextBox 25" id="25"/>
          <p:cNvSpPr txBox="true"/>
          <p:nvPr/>
        </p:nvSpPr>
        <p:spPr>
          <a:xfrm rot="0">
            <a:off x="6362118" y="981075"/>
            <a:ext cx="5563764" cy="413901"/>
          </a:xfrm>
          <a:prstGeom prst="rect">
            <a:avLst/>
          </a:prstGeom>
        </p:spPr>
        <p:txBody>
          <a:bodyPr anchor="t" rtlCol="false" tIns="0" lIns="0" bIns="0" rIns="0">
            <a:spAutoFit/>
          </a:bodyPr>
          <a:lstStyle/>
          <a:p>
            <a:pPr algn="ctr">
              <a:lnSpc>
                <a:spcPts val="3436"/>
              </a:lnSpc>
            </a:pPr>
            <a:r>
              <a:rPr lang="en-US" b="true" sz="2454" spc="1389">
                <a:solidFill>
                  <a:srgbClr val="4EA46A"/>
                </a:solidFill>
                <a:latin typeface="Montserrat Bold"/>
                <a:ea typeface="Montserrat Bold"/>
                <a:cs typeface="Montserrat Bold"/>
                <a:sym typeface="Montserrat Bold"/>
              </a:rPr>
              <a:t>WELCOME TO</a:t>
            </a:r>
          </a:p>
        </p:txBody>
      </p:sp>
      <p:sp>
        <p:nvSpPr>
          <p:cNvPr name="TextBox 26" id="26"/>
          <p:cNvSpPr txBox="true"/>
          <p:nvPr/>
        </p:nvSpPr>
        <p:spPr>
          <a:xfrm rot="0">
            <a:off x="5755957" y="8006295"/>
            <a:ext cx="6776085" cy="479955"/>
          </a:xfrm>
          <a:prstGeom prst="rect">
            <a:avLst/>
          </a:prstGeom>
        </p:spPr>
        <p:txBody>
          <a:bodyPr anchor="t" rtlCol="false" tIns="0" lIns="0" bIns="0" rIns="0">
            <a:spAutoFit/>
          </a:bodyPr>
          <a:lstStyle/>
          <a:p>
            <a:pPr algn="ctr">
              <a:lnSpc>
                <a:spcPts val="3995"/>
              </a:lnSpc>
              <a:spcBef>
                <a:spcPct val="0"/>
              </a:spcBef>
            </a:pPr>
            <a:r>
              <a:rPr lang="en-US" b="true" sz="2854">
                <a:solidFill>
                  <a:srgbClr val="4EA46A"/>
                </a:solidFill>
                <a:latin typeface="Montserrat Bold"/>
                <a:ea typeface="Montserrat Bold"/>
                <a:cs typeface="Montserrat Bold"/>
                <a:sym typeface="Montserrat Bold"/>
              </a:rPr>
              <a:t>INVENTORY MANAGEMENT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6684564" y="9301438"/>
            <a:ext cx="1971124" cy="197112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684564" y="8712272"/>
            <a:ext cx="1092056" cy="10920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6791058" y="-695548"/>
            <a:ext cx="1971124" cy="19711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7971537" y="2444880"/>
            <a:ext cx="1092056" cy="109205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3" id="13"/>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4" id="14"/>
          <p:cNvGrpSpPr/>
          <p:nvPr/>
        </p:nvGrpSpPr>
        <p:grpSpPr>
          <a:xfrm rot="0">
            <a:off x="482672" y="482672"/>
            <a:ext cx="1092056" cy="109205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6" id="16"/>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7" id="17"/>
          <p:cNvGrpSpPr/>
          <p:nvPr/>
        </p:nvGrpSpPr>
        <p:grpSpPr>
          <a:xfrm rot="-10800000">
            <a:off x="-396396" y="-547773"/>
            <a:ext cx="1971124" cy="197112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10800000">
            <a:off x="482672" y="920461"/>
            <a:ext cx="1092056" cy="109205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22" id="22"/>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23" id="23"/>
          <p:cNvGrpSpPr/>
          <p:nvPr/>
        </p:nvGrpSpPr>
        <p:grpSpPr>
          <a:xfrm rot="0">
            <a:off x="1850003" y="2012517"/>
            <a:ext cx="3086100" cy="3711821"/>
            <a:chOff x="0" y="0"/>
            <a:chExt cx="812800" cy="977599"/>
          </a:xfrm>
        </p:grpSpPr>
        <p:sp>
          <p:nvSpPr>
            <p:cNvPr name="Freeform 24" id="24"/>
            <p:cNvSpPr/>
            <p:nvPr/>
          </p:nvSpPr>
          <p:spPr>
            <a:xfrm flipH="false" flipV="false" rot="0">
              <a:off x="0" y="0"/>
              <a:ext cx="812800" cy="977599"/>
            </a:xfrm>
            <a:custGeom>
              <a:avLst/>
              <a:gdLst/>
              <a:ahLst/>
              <a:cxnLst/>
              <a:rect r="r" b="b" t="t" l="l"/>
              <a:pathLst>
                <a:path h="977599" w="812800">
                  <a:moveTo>
                    <a:pt x="42647" y="0"/>
                  </a:moveTo>
                  <a:lnTo>
                    <a:pt x="770153" y="0"/>
                  </a:lnTo>
                  <a:cubicBezTo>
                    <a:pt x="781464" y="0"/>
                    <a:pt x="792311" y="4493"/>
                    <a:pt x="800309" y="12491"/>
                  </a:cubicBezTo>
                  <a:cubicBezTo>
                    <a:pt x="808307" y="20489"/>
                    <a:pt x="812800" y="31336"/>
                    <a:pt x="812800" y="42647"/>
                  </a:cubicBezTo>
                  <a:lnTo>
                    <a:pt x="812800" y="934952"/>
                  </a:lnTo>
                  <a:cubicBezTo>
                    <a:pt x="812800" y="946263"/>
                    <a:pt x="808307" y="957110"/>
                    <a:pt x="800309" y="965108"/>
                  </a:cubicBezTo>
                  <a:cubicBezTo>
                    <a:pt x="792311" y="973106"/>
                    <a:pt x="781464" y="977599"/>
                    <a:pt x="770153" y="977599"/>
                  </a:cubicBezTo>
                  <a:lnTo>
                    <a:pt x="42647" y="977599"/>
                  </a:lnTo>
                  <a:cubicBezTo>
                    <a:pt x="31336" y="977599"/>
                    <a:pt x="20489" y="973106"/>
                    <a:pt x="12491" y="965108"/>
                  </a:cubicBezTo>
                  <a:cubicBezTo>
                    <a:pt x="4493" y="957110"/>
                    <a:pt x="0" y="946263"/>
                    <a:pt x="0" y="934952"/>
                  </a:cubicBezTo>
                  <a:lnTo>
                    <a:pt x="0" y="42647"/>
                  </a:lnTo>
                  <a:cubicBezTo>
                    <a:pt x="0" y="31336"/>
                    <a:pt x="4493" y="20489"/>
                    <a:pt x="12491" y="12491"/>
                  </a:cubicBezTo>
                  <a:cubicBezTo>
                    <a:pt x="20489" y="4493"/>
                    <a:pt x="31336" y="0"/>
                    <a:pt x="42647" y="0"/>
                  </a:cubicBezTo>
                  <a:close/>
                </a:path>
              </a:pathLst>
            </a:custGeom>
            <a:solidFill>
              <a:srgbClr val="015D57"/>
            </a:solidFill>
          </p:spPr>
        </p:sp>
        <p:sp>
          <p:nvSpPr>
            <p:cNvPr name="TextBox 25" id="25"/>
            <p:cNvSpPr txBox="true"/>
            <p:nvPr/>
          </p:nvSpPr>
          <p:spPr>
            <a:xfrm>
              <a:off x="0" y="-28575"/>
              <a:ext cx="812800" cy="1006174"/>
            </a:xfrm>
            <a:prstGeom prst="rect">
              <a:avLst/>
            </a:prstGeom>
          </p:spPr>
          <p:txBody>
            <a:bodyPr anchor="ctr" rtlCol="false" tIns="50800" lIns="50800" bIns="50800" rIns="50800"/>
            <a:lstStyle/>
            <a:p>
              <a:pPr algn="ctr">
                <a:lnSpc>
                  <a:spcPts val="2799"/>
                </a:lnSpc>
              </a:pPr>
            </a:p>
          </p:txBody>
        </p:sp>
      </p:grpSp>
      <p:grpSp>
        <p:nvGrpSpPr>
          <p:cNvPr name="Group 26" id="26"/>
          <p:cNvGrpSpPr/>
          <p:nvPr/>
        </p:nvGrpSpPr>
        <p:grpSpPr>
          <a:xfrm rot="0">
            <a:off x="6057900" y="2012517"/>
            <a:ext cx="3086100" cy="3711821"/>
            <a:chOff x="0" y="0"/>
            <a:chExt cx="812800" cy="977599"/>
          </a:xfrm>
        </p:grpSpPr>
        <p:sp>
          <p:nvSpPr>
            <p:cNvPr name="Freeform 27" id="27"/>
            <p:cNvSpPr/>
            <p:nvPr/>
          </p:nvSpPr>
          <p:spPr>
            <a:xfrm flipH="false" flipV="false" rot="0">
              <a:off x="0" y="0"/>
              <a:ext cx="812800" cy="977599"/>
            </a:xfrm>
            <a:custGeom>
              <a:avLst/>
              <a:gdLst/>
              <a:ahLst/>
              <a:cxnLst/>
              <a:rect r="r" b="b" t="t" l="l"/>
              <a:pathLst>
                <a:path h="977599" w="812800">
                  <a:moveTo>
                    <a:pt x="42647" y="0"/>
                  </a:moveTo>
                  <a:lnTo>
                    <a:pt x="770153" y="0"/>
                  </a:lnTo>
                  <a:cubicBezTo>
                    <a:pt x="781464" y="0"/>
                    <a:pt x="792311" y="4493"/>
                    <a:pt x="800309" y="12491"/>
                  </a:cubicBezTo>
                  <a:cubicBezTo>
                    <a:pt x="808307" y="20489"/>
                    <a:pt x="812800" y="31336"/>
                    <a:pt x="812800" y="42647"/>
                  </a:cubicBezTo>
                  <a:lnTo>
                    <a:pt x="812800" y="934952"/>
                  </a:lnTo>
                  <a:cubicBezTo>
                    <a:pt x="812800" y="946263"/>
                    <a:pt x="808307" y="957110"/>
                    <a:pt x="800309" y="965108"/>
                  </a:cubicBezTo>
                  <a:cubicBezTo>
                    <a:pt x="792311" y="973106"/>
                    <a:pt x="781464" y="977599"/>
                    <a:pt x="770153" y="977599"/>
                  </a:cubicBezTo>
                  <a:lnTo>
                    <a:pt x="42647" y="977599"/>
                  </a:lnTo>
                  <a:cubicBezTo>
                    <a:pt x="31336" y="977599"/>
                    <a:pt x="20489" y="973106"/>
                    <a:pt x="12491" y="965108"/>
                  </a:cubicBezTo>
                  <a:cubicBezTo>
                    <a:pt x="4493" y="957110"/>
                    <a:pt x="0" y="946263"/>
                    <a:pt x="0" y="934952"/>
                  </a:cubicBezTo>
                  <a:lnTo>
                    <a:pt x="0" y="42647"/>
                  </a:lnTo>
                  <a:cubicBezTo>
                    <a:pt x="0" y="31336"/>
                    <a:pt x="4493" y="20489"/>
                    <a:pt x="12491" y="12491"/>
                  </a:cubicBezTo>
                  <a:cubicBezTo>
                    <a:pt x="20489" y="4493"/>
                    <a:pt x="31336" y="0"/>
                    <a:pt x="42647" y="0"/>
                  </a:cubicBezTo>
                  <a:close/>
                </a:path>
              </a:pathLst>
            </a:custGeom>
            <a:solidFill>
              <a:srgbClr val="015D57"/>
            </a:solidFill>
          </p:spPr>
        </p:sp>
        <p:sp>
          <p:nvSpPr>
            <p:cNvPr name="TextBox 28" id="28"/>
            <p:cNvSpPr txBox="true"/>
            <p:nvPr/>
          </p:nvSpPr>
          <p:spPr>
            <a:xfrm>
              <a:off x="0" y="-28575"/>
              <a:ext cx="812800" cy="1006174"/>
            </a:xfrm>
            <a:prstGeom prst="rect">
              <a:avLst/>
            </a:prstGeom>
          </p:spPr>
          <p:txBody>
            <a:bodyPr anchor="ctr" rtlCol="false" tIns="50800" lIns="50800" bIns="50800" rIns="50800"/>
            <a:lstStyle/>
            <a:p>
              <a:pPr algn="ctr">
                <a:lnSpc>
                  <a:spcPts val="2799"/>
                </a:lnSpc>
              </a:pPr>
            </a:p>
          </p:txBody>
        </p:sp>
      </p:grpSp>
      <p:grpSp>
        <p:nvGrpSpPr>
          <p:cNvPr name="Group 29" id="29"/>
          <p:cNvGrpSpPr/>
          <p:nvPr/>
        </p:nvGrpSpPr>
        <p:grpSpPr>
          <a:xfrm rot="0">
            <a:off x="10267950" y="2012517"/>
            <a:ext cx="3086100" cy="3711821"/>
            <a:chOff x="0" y="0"/>
            <a:chExt cx="812800" cy="977599"/>
          </a:xfrm>
        </p:grpSpPr>
        <p:sp>
          <p:nvSpPr>
            <p:cNvPr name="Freeform 30" id="30"/>
            <p:cNvSpPr/>
            <p:nvPr/>
          </p:nvSpPr>
          <p:spPr>
            <a:xfrm flipH="false" flipV="false" rot="0">
              <a:off x="0" y="0"/>
              <a:ext cx="812800" cy="977599"/>
            </a:xfrm>
            <a:custGeom>
              <a:avLst/>
              <a:gdLst/>
              <a:ahLst/>
              <a:cxnLst/>
              <a:rect r="r" b="b" t="t" l="l"/>
              <a:pathLst>
                <a:path h="977599" w="812800">
                  <a:moveTo>
                    <a:pt x="42647" y="0"/>
                  </a:moveTo>
                  <a:lnTo>
                    <a:pt x="770153" y="0"/>
                  </a:lnTo>
                  <a:cubicBezTo>
                    <a:pt x="781464" y="0"/>
                    <a:pt x="792311" y="4493"/>
                    <a:pt x="800309" y="12491"/>
                  </a:cubicBezTo>
                  <a:cubicBezTo>
                    <a:pt x="808307" y="20489"/>
                    <a:pt x="812800" y="31336"/>
                    <a:pt x="812800" y="42647"/>
                  </a:cubicBezTo>
                  <a:lnTo>
                    <a:pt x="812800" y="934952"/>
                  </a:lnTo>
                  <a:cubicBezTo>
                    <a:pt x="812800" y="946263"/>
                    <a:pt x="808307" y="957110"/>
                    <a:pt x="800309" y="965108"/>
                  </a:cubicBezTo>
                  <a:cubicBezTo>
                    <a:pt x="792311" y="973106"/>
                    <a:pt x="781464" y="977599"/>
                    <a:pt x="770153" y="977599"/>
                  </a:cubicBezTo>
                  <a:lnTo>
                    <a:pt x="42647" y="977599"/>
                  </a:lnTo>
                  <a:cubicBezTo>
                    <a:pt x="31336" y="977599"/>
                    <a:pt x="20489" y="973106"/>
                    <a:pt x="12491" y="965108"/>
                  </a:cubicBezTo>
                  <a:cubicBezTo>
                    <a:pt x="4493" y="957110"/>
                    <a:pt x="0" y="946263"/>
                    <a:pt x="0" y="934952"/>
                  </a:cubicBezTo>
                  <a:lnTo>
                    <a:pt x="0" y="42647"/>
                  </a:lnTo>
                  <a:cubicBezTo>
                    <a:pt x="0" y="31336"/>
                    <a:pt x="4493" y="20489"/>
                    <a:pt x="12491" y="12491"/>
                  </a:cubicBezTo>
                  <a:cubicBezTo>
                    <a:pt x="20489" y="4493"/>
                    <a:pt x="31336" y="0"/>
                    <a:pt x="42647" y="0"/>
                  </a:cubicBezTo>
                  <a:close/>
                </a:path>
              </a:pathLst>
            </a:custGeom>
            <a:solidFill>
              <a:srgbClr val="015D57"/>
            </a:solidFill>
          </p:spPr>
        </p:sp>
        <p:sp>
          <p:nvSpPr>
            <p:cNvPr name="TextBox 31" id="31"/>
            <p:cNvSpPr txBox="true"/>
            <p:nvPr/>
          </p:nvSpPr>
          <p:spPr>
            <a:xfrm>
              <a:off x="0" y="-28575"/>
              <a:ext cx="812800" cy="1006174"/>
            </a:xfrm>
            <a:prstGeom prst="rect">
              <a:avLst/>
            </a:prstGeom>
          </p:spPr>
          <p:txBody>
            <a:bodyPr anchor="ctr" rtlCol="false" tIns="50800" lIns="50800" bIns="50800" rIns="50800"/>
            <a:lstStyle/>
            <a:p>
              <a:pPr algn="ctr">
                <a:lnSpc>
                  <a:spcPts val="2799"/>
                </a:lnSpc>
              </a:pPr>
            </a:p>
          </p:txBody>
        </p:sp>
      </p:grpSp>
      <p:grpSp>
        <p:nvGrpSpPr>
          <p:cNvPr name="Group 32" id="32"/>
          <p:cNvGrpSpPr/>
          <p:nvPr/>
        </p:nvGrpSpPr>
        <p:grpSpPr>
          <a:xfrm rot="0">
            <a:off x="14478000" y="2012517"/>
            <a:ext cx="3086100" cy="3711821"/>
            <a:chOff x="0" y="0"/>
            <a:chExt cx="812800" cy="977599"/>
          </a:xfrm>
        </p:grpSpPr>
        <p:sp>
          <p:nvSpPr>
            <p:cNvPr name="Freeform 33" id="33"/>
            <p:cNvSpPr/>
            <p:nvPr/>
          </p:nvSpPr>
          <p:spPr>
            <a:xfrm flipH="false" flipV="false" rot="0">
              <a:off x="0" y="0"/>
              <a:ext cx="812800" cy="977599"/>
            </a:xfrm>
            <a:custGeom>
              <a:avLst/>
              <a:gdLst/>
              <a:ahLst/>
              <a:cxnLst/>
              <a:rect r="r" b="b" t="t" l="l"/>
              <a:pathLst>
                <a:path h="977599" w="812800">
                  <a:moveTo>
                    <a:pt x="42647" y="0"/>
                  </a:moveTo>
                  <a:lnTo>
                    <a:pt x="770153" y="0"/>
                  </a:lnTo>
                  <a:cubicBezTo>
                    <a:pt x="781464" y="0"/>
                    <a:pt x="792311" y="4493"/>
                    <a:pt x="800309" y="12491"/>
                  </a:cubicBezTo>
                  <a:cubicBezTo>
                    <a:pt x="808307" y="20489"/>
                    <a:pt x="812800" y="31336"/>
                    <a:pt x="812800" y="42647"/>
                  </a:cubicBezTo>
                  <a:lnTo>
                    <a:pt x="812800" y="934952"/>
                  </a:lnTo>
                  <a:cubicBezTo>
                    <a:pt x="812800" y="946263"/>
                    <a:pt x="808307" y="957110"/>
                    <a:pt x="800309" y="965108"/>
                  </a:cubicBezTo>
                  <a:cubicBezTo>
                    <a:pt x="792311" y="973106"/>
                    <a:pt x="781464" y="977599"/>
                    <a:pt x="770153" y="977599"/>
                  </a:cubicBezTo>
                  <a:lnTo>
                    <a:pt x="42647" y="977599"/>
                  </a:lnTo>
                  <a:cubicBezTo>
                    <a:pt x="31336" y="977599"/>
                    <a:pt x="20489" y="973106"/>
                    <a:pt x="12491" y="965108"/>
                  </a:cubicBezTo>
                  <a:cubicBezTo>
                    <a:pt x="4493" y="957110"/>
                    <a:pt x="0" y="946263"/>
                    <a:pt x="0" y="934952"/>
                  </a:cubicBezTo>
                  <a:lnTo>
                    <a:pt x="0" y="42647"/>
                  </a:lnTo>
                  <a:cubicBezTo>
                    <a:pt x="0" y="31336"/>
                    <a:pt x="4493" y="20489"/>
                    <a:pt x="12491" y="12491"/>
                  </a:cubicBezTo>
                  <a:cubicBezTo>
                    <a:pt x="20489" y="4493"/>
                    <a:pt x="31336" y="0"/>
                    <a:pt x="42647" y="0"/>
                  </a:cubicBezTo>
                  <a:close/>
                </a:path>
              </a:pathLst>
            </a:custGeom>
            <a:solidFill>
              <a:srgbClr val="015D57"/>
            </a:solidFill>
          </p:spPr>
        </p:sp>
        <p:sp>
          <p:nvSpPr>
            <p:cNvPr name="TextBox 34" id="34"/>
            <p:cNvSpPr txBox="true"/>
            <p:nvPr/>
          </p:nvSpPr>
          <p:spPr>
            <a:xfrm>
              <a:off x="0" y="-28575"/>
              <a:ext cx="812800" cy="1006174"/>
            </a:xfrm>
            <a:prstGeom prst="rect">
              <a:avLst/>
            </a:prstGeom>
          </p:spPr>
          <p:txBody>
            <a:bodyPr anchor="ctr" rtlCol="false" tIns="50800" lIns="50800" bIns="50800" rIns="50800"/>
            <a:lstStyle/>
            <a:p>
              <a:pPr algn="ctr">
                <a:lnSpc>
                  <a:spcPts val="2799"/>
                </a:lnSpc>
              </a:pPr>
            </a:p>
          </p:txBody>
        </p:sp>
      </p:grpSp>
      <p:sp>
        <p:nvSpPr>
          <p:cNvPr name="Freeform 35" id="35"/>
          <p:cNvSpPr/>
          <p:nvPr/>
        </p:nvSpPr>
        <p:spPr>
          <a:xfrm flipH="false" flipV="false" rot="0">
            <a:off x="1940170" y="2151172"/>
            <a:ext cx="2905765" cy="3434510"/>
          </a:xfrm>
          <a:custGeom>
            <a:avLst/>
            <a:gdLst/>
            <a:ahLst/>
            <a:cxnLst/>
            <a:rect r="r" b="b" t="t" l="l"/>
            <a:pathLst>
              <a:path h="3434510" w="2905765">
                <a:moveTo>
                  <a:pt x="0" y="0"/>
                </a:moveTo>
                <a:lnTo>
                  <a:pt x="2905766" y="0"/>
                </a:lnTo>
                <a:lnTo>
                  <a:pt x="2905766" y="3434511"/>
                </a:lnTo>
                <a:lnTo>
                  <a:pt x="0" y="3434511"/>
                </a:lnTo>
                <a:lnTo>
                  <a:pt x="0" y="0"/>
                </a:lnTo>
                <a:close/>
              </a:path>
            </a:pathLst>
          </a:custGeom>
          <a:blipFill>
            <a:blip r:embed="rId2"/>
            <a:stretch>
              <a:fillRect l="-5535" t="-6105" r="-19877" b="0"/>
            </a:stretch>
          </a:blipFill>
        </p:spPr>
      </p:sp>
      <p:sp>
        <p:nvSpPr>
          <p:cNvPr name="Freeform 36" id="36"/>
          <p:cNvSpPr/>
          <p:nvPr/>
        </p:nvSpPr>
        <p:spPr>
          <a:xfrm flipH="false" flipV="false" rot="0">
            <a:off x="6167573" y="2151172"/>
            <a:ext cx="2896019" cy="3434510"/>
          </a:xfrm>
          <a:custGeom>
            <a:avLst/>
            <a:gdLst/>
            <a:ahLst/>
            <a:cxnLst/>
            <a:rect r="r" b="b" t="t" l="l"/>
            <a:pathLst>
              <a:path h="3434510" w="2896019">
                <a:moveTo>
                  <a:pt x="0" y="0"/>
                </a:moveTo>
                <a:lnTo>
                  <a:pt x="2896020" y="0"/>
                </a:lnTo>
                <a:lnTo>
                  <a:pt x="2896020" y="3434511"/>
                </a:lnTo>
                <a:lnTo>
                  <a:pt x="0" y="3434511"/>
                </a:lnTo>
                <a:lnTo>
                  <a:pt x="0" y="0"/>
                </a:lnTo>
                <a:close/>
              </a:path>
            </a:pathLst>
          </a:custGeom>
          <a:blipFill>
            <a:blip r:embed="rId3"/>
            <a:stretch>
              <a:fillRect l="-2659" t="-2041" r="-18355" b="0"/>
            </a:stretch>
          </a:blipFill>
          <a:ln cap="sq">
            <a:noFill/>
            <a:prstDash val="solid"/>
            <a:miter/>
          </a:ln>
        </p:spPr>
      </p:sp>
      <p:sp>
        <p:nvSpPr>
          <p:cNvPr name="Freeform 37" id="37"/>
          <p:cNvSpPr/>
          <p:nvPr/>
        </p:nvSpPr>
        <p:spPr>
          <a:xfrm flipH="false" flipV="false" rot="0">
            <a:off x="10372725" y="2151172"/>
            <a:ext cx="2890238" cy="3431656"/>
          </a:xfrm>
          <a:custGeom>
            <a:avLst/>
            <a:gdLst/>
            <a:ahLst/>
            <a:cxnLst/>
            <a:rect r="r" b="b" t="t" l="l"/>
            <a:pathLst>
              <a:path h="3431656" w="2890238">
                <a:moveTo>
                  <a:pt x="0" y="0"/>
                </a:moveTo>
                <a:lnTo>
                  <a:pt x="2890238" y="0"/>
                </a:lnTo>
                <a:lnTo>
                  <a:pt x="2890238" y="3431657"/>
                </a:lnTo>
                <a:lnTo>
                  <a:pt x="0" y="3431657"/>
                </a:lnTo>
                <a:lnTo>
                  <a:pt x="0" y="0"/>
                </a:lnTo>
                <a:close/>
              </a:path>
            </a:pathLst>
          </a:custGeom>
          <a:blipFill>
            <a:blip r:embed="rId4"/>
            <a:stretch>
              <a:fillRect l="-8606" t="0" r="-10125" b="0"/>
            </a:stretch>
          </a:blipFill>
        </p:spPr>
      </p:sp>
      <p:sp>
        <p:nvSpPr>
          <p:cNvPr name="Freeform 38" id="38"/>
          <p:cNvSpPr/>
          <p:nvPr/>
        </p:nvSpPr>
        <p:spPr>
          <a:xfrm flipH="false" flipV="false" rot="0">
            <a:off x="14582775" y="2122619"/>
            <a:ext cx="2882017" cy="3491617"/>
          </a:xfrm>
          <a:custGeom>
            <a:avLst/>
            <a:gdLst/>
            <a:ahLst/>
            <a:cxnLst/>
            <a:rect r="r" b="b" t="t" l="l"/>
            <a:pathLst>
              <a:path h="3491617" w="2882017">
                <a:moveTo>
                  <a:pt x="0" y="0"/>
                </a:moveTo>
                <a:lnTo>
                  <a:pt x="2882017" y="0"/>
                </a:lnTo>
                <a:lnTo>
                  <a:pt x="2882017" y="3491617"/>
                </a:lnTo>
                <a:lnTo>
                  <a:pt x="0" y="3491617"/>
                </a:lnTo>
                <a:lnTo>
                  <a:pt x="0" y="0"/>
                </a:lnTo>
                <a:close/>
              </a:path>
            </a:pathLst>
          </a:custGeom>
          <a:blipFill>
            <a:blip r:embed="rId5"/>
            <a:stretch>
              <a:fillRect l="-21151" t="0" r="0" b="0"/>
            </a:stretch>
          </a:blipFill>
        </p:spPr>
      </p:sp>
      <p:sp>
        <p:nvSpPr>
          <p:cNvPr name="TextBox 39" id="39"/>
          <p:cNvSpPr txBox="true"/>
          <p:nvPr/>
        </p:nvSpPr>
        <p:spPr>
          <a:xfrm rot="0">
            <a:off x="5455800" y="510840"/>
            <a:ext cx="8415794" cy="1057275"/>
          </a:xfrm>
          <a:prstGeom prst="rect">
            <a:avLst/>
          </a:prstGeom>
        </p:spPr>
        <p:txBody>
          <a:bodyPr anchor="t" rtlCol="false" tIns="0" lIns="0" bIns="0" rIns="0">
            <a:spAutoFit/>
          </a:bodyPr>
          <a:lstStyle/>
          <a:p>
            <a:pPr algn="l">
              <a:lnSpc>
                <a:spcPts val="8377"/>
              </a:lnSpc>
            </a:pPr>
            <a:r>
              <a:rPr lang="en-US" b="true" sz="6980">
                <a:gradFill>
                  <a:gsLst>
                    <a:gs pos="0">
                      <a:srgbClr val="4EA46A">
                        <a:alpha val="100000"/>
                      </a:srgbClr>
                    </a:gs>
                    <a:gs pos="100000">
                      <a:srgbClr val="005C57">
                        <a:alpha val="100000"/>
                      </a:srgbClr>
                    </a:gs>
                  </a:gsLst>
                  <a:lin ang="0"/>
                </a:gradFill>
                <a:latin typeface="Montserrat Bold"/>
                <a:ea typeface="Montserrat Bold"/>
                <a:cs typeface="Montserrat Bold"/>
                <a:sym typeface="Montserrat Bold"/>
              </a:rPr>
              <a:t>INTRODUCTION</a:t>
            </a:r>
          </a:p>
        </p:txBody>
      </p:sp>
      <p:sp>
        <p:nvSpPr>
          <p:cNvPr name="TextBox 40" id="40"/>
          <p:cNvSpPr txBox="true"/>
          <p:nvPr/>
        </p:nvSpPr>
        <p:spPr>
          <a:xfrm rot="0">
            <a:off x="2654192" y="6750022"/>
            <a:ext cx="1477723" cy="1121338"/>
          </a:xfrm>
          <a:prstGeom prst="rect">
            <a:avLst/>
          </a:prstGeom>
        </p:spPr>
        <p:txBody>
          <a:bodyPr anchor="t" rtlCol="false" tIns="0" lIns="0" bIns="0" rIns="0">
            <a:spAutoFit/>
          </a:bodyPr>
          <a:lstStyle/>
          <a:p>
            <a:pPr algn="ctr">
              <a:lnSpc>
                <a:spcPts val="4555"/>
              </a:lnSpc>
            </a:pPr>
            <a:r>
              <a:rPr lang="en-US" sz="3254">
                <a:solidFill>
                  <a:srgbClr val="FFFFFF"/>
                </a:solidFill>
                <a:latin typeface="Montserrat"/>
                <a:ea typeface="Montserrat"/>
                <a:cs typeface="Montserrat"/>
                <a:sym typeface="Montserrat"/>
              </a:rPr>
              <a:t>Scrum </a:t>
            </a:r>
          </a:p>
          <a:p>
            <a:pPr algn="ctr">
              <a:lnSpc>
                <a:spcPts val="4555"/>
              </a:lnSpc>
              <a:spcBef>
                <a:spcPct val="0"/>
              </a:spcBef>
            </a:pPr>
            <a:r>
              <a:rPr lang="en-US" sz="3254">
                <a:solidFill>
                  <a:srgbClr val="FFFFFF"/>
                </a:solidFill>
                <a:latin typeface="Montserrat"/>
                <a:ea typeface="Montserrat"/>
                <a:cs typeface="Montserrat"/>
                <a:sym typeface="Montserrat"/>
              </a:rPr>
              <a:t>master</a:t>
            </a:r>
          </a:p>
        </p:txBody>
      </p:sp>
      <p:sp>
        <p:nvSpPr>
          <p:cNvPr name="TextBox 41" id="41"/>
          <p:cNvSpPr txBox="true"/>
          <p:nvPr/>
        </p:nvSpPr>
        <p:spPr>
          <a:xfrm rot="0">
            <a:off x="6622753" y="6750022"/>
            <a:ext cx="2105128" cy="1121338"/>
          </a:xfrm>
          <a:prstGeom prst="rect">
            <a:avLst/>
          </a:prstGeom>
        </p:spPr>
        <p:txBody>
          <a:bodyPr anchor="t" rtlCol="false" tIns="0" lIns="0" bIns="0" rIns="0">
            <a:spAutoFit/>
          </a:bodyPr>
          <a:lstStyle/>
          <a:p>
            <a:pPr algn="ctr">
              <a:lnSpc>
                <a:spcPts val="4555"/>
              </a:lnSpc>
            </a:pPr>
            <a:r>
              <a:rPr lang="en-US" sz="3254">
                <a:solidFill>
                  <a:srgbClr val="FFFFFF"/>
                </a:solidFill>
                <a:latin typeface="Montserrat"/>
                <a:ea typeface="Montserrat"/>
                <a:cs typeface="Montserrat"/>
                <a:sym typeface="Montserrat"/>
              </a:rPr>
              <a:t>Back-end </a:t>
            </a:r>
          </a:p>
          <a:p>
            <a:pPr algn="ctr">
              <a:lnSpc>
                <a:spcPts val="4555"/>
              </a:lnSpc>
              <a:spcBef>
                <a:spcPct val="0"/>
              </a:spcBef>
            </a:pPr>
            <a:r>
              <a:rPr lang="en-US" sz="3254">
                <a:solidFill>
                  <a:srgbClr val="FFFFFF"/>
                </a:solidFill>
                <a:latin typeface="Montserrat"/>
                <a:ea typeface="Montserrat"/>
                <a:cs typeface="Montserrat"/>
                <a:sym typeface="Montserrat"/>
              </a:rPr>
              <a:t>developer</a:t>
            </a:r>
          </a:p>
        </p:txBody>
      </p:sp>
      <p:sp>
        <p:nvSpPr>
          <p:cNvPr name="TextBox 42" id="42"/>
          <p:cNvSpPr txBox="true"/>
          <p:nvPr/>
        </p:nvSpPr>
        <p:spPr>
          <a:xfrm rot="0">
            <a:off x="10758436" y="6708694"/>
            <a:ext cx="2105128" cy="1121338"/>
          </a:xfrm>
          <a:prstGeom prst="rect">
            <a:avLst/>
          </a:prstGeom>
        </p:spPr>
        <p:txBody>
          <a:bodyPr anchor="t" rtlCol="false" tIns="0" lIns="0" bIns="0" rIns="0">
            <a:spAutoFit/>
          </a:bodyPr>
          <a:lstStyle/>
          <a:p>
            <a:pPr algn="ctr">
              <a:lnSpc>
                <a:spcPts val="4555"/>
              </a:lnSpc>
            </a:pPr>
            <a:r>
              <a:rPr lang="en-US" sz="3254">
                <a:solidFill>
                  <a:srgbClr val="FFFFFF"/>
                </a:solidFill>
                <a:latin typeface="Montserrat"/>
                <a:ea typeface="Montserrat"/>
                <a:cs typeface="Montserrat"/>
                <a:sym typeface="Montserrat"/>
              </a:rPr>
              <a:t>Back-end </a:t>
            </a:r>
          </a:p>
          <a:p>
            <a:pPr algn="ctr">
              <a:lnSpc>
                <a:spcPts val="4555"/>
              </a:lnSpc>
              <a:spcBef>
                <a:spcPct val="0"/>
              </a:spcBef>
            </a:pPr>
            <a:r>
              <a:rPr lang="en-US" sz="3254">
                <a:solidFill>
                  <a:srgbClr val="FFFFFF"/>
                </a:solidFill>
                <a:latin typeface="Montserrat"/>
                <a:ea typeface="Montserrat"/>
                <a:cs typeface="Montserrat"/>
                <a:sym typeface="Montserrat"/>
              </a:rPr>
              <a:t>developer</a:t>
            </a:r>
          </a:p>
        </p:txBody>
      </p:sp>
      <p:sp>
        <p:nvSpPr>
          <p:cNvPr name="TextBox 43" id="43"/>
          <p:cNvSpPr txBox="true"/>
          <p:nvPr/>
        </p:nvSpPr>
        <p:spPr>
          <a:xfrm rot="0">
            <a:off x="14844475" y="6708694"/>
            <a:ext cx="2200957" cy="1121338"/>
          </a:xfrm>
          <a:prstGeom prst="rect">
            <a:avLst/>
          </a:prstGeom>
        </p:spPr>
        <p:txBody>
          <a:bodyPr anchor="t" rtlCol="false" tIns="0" lIns="0" bIns="0" rIns="0">
            <a:spAutoFit/>
          </a:bodyPr>
          <a:lstStyle/>
          <a:p>
            <a:pPr algn="ctr">
              <a:lnSpc>
                <a:spcPts val="4555"/>
              </a:lnSpc>
            </a:pPr>
            <a:r>
              <a:rPr lang="en-US" sz="3254">
                <a:solidFill>
                  <a:srgbClr val="FFFFFF"/>
                </a:solidFill>
                <a:latin typeface="Montserrat"/>
                <a:ea typeface="Montserrat"/>
                <a:cs typeface="Montserrat"/>
                <a:sym typeface="Montserrat"/>
              </a:rPr>
              <a:t>Front-end </a:t>
            </a:r>
          </a:p>
          <a:p>
            <a:pPr algn="ctr">
              <a:lnSpc>
                <a:spcPts val="4555"/>
              </a:lnSpc>
              <a:spcBef>
                <a:spcPct val="0"/>
              </a:spcBef>
            </a:pPr>
            <a:r>
              <a:rPr lang="en-US" sz="3254">
                <a:solidFill>
                  <a:srgbClr val="FFFFFF"/>
                </a:solidFill>
                <a:latin typeface="Montserrat"/>
                <a:ea typeface="Montserrat"/>
                <a:cs typeface="Montserrat"/>
                <a:sym typeface="Montserrat"/>
              </a:rPr>
              <a:t>developer</a:t>
            </a:r>
          </a:p>
        </p:txBody>
      </p:sp>
      <p:sp>
        <p:nvSpPr>
          <p:cNvPr name="TextBox 44" id="44"/>
          <p:cNvSpPr txBox="true"/>
          <p:nvPr/>
        </p:nvSpPr>
        <p:spPr>
          <a:xfrm rot="0">
            <a:off x="1745220" y="6019167"/>
            <a:ext cx="3295665" cy="445551"/>
          </a:xfrm>
          <a:prstGeom prst="rect">
            <a:avLst/>
          </a:prstGeom>
        </p:spPr>
        <p:txBody>
          <a:bodyPr anchor="t" rtlCol="false" tIns="0" lIns="0" bIns="0" rIns="0">
            <a:spAutoFit/>
          </a:bodyPr>
          <a:lstStyle/>
          <a:p>
            <a:pPr algn="ctr">
              <a:lnSpc>
                <a:spcPts val="3693"/>
              </a:lnSpc>
              <a:spcBef>
                <a:spcPct val="0"/>
              </a:spcBef>
            </a:pPr>
            <a:r>
              <a:rPr lang="en-US" sz="2638">
                <a:solidFill>
                  <a:srgbClr val="FFFFFF"/>
                </a:solidFill>
                <a:latin typeface="Montserrat"/>
                <a:ea typeface="Montserrat"/>
                <a:cs typeface="Montserrat"/>
                <a:sym typeface="Montserrat"/>
              </a:rPr>
              <a:t>Altay Yemendzhiev</a:t>
            </a:r>
            <a:r>
              <a:rPr lang="en-US" sz="2638">
                <a:solidFill>
                  <a:srgbClr val="FFFFFF"/>
                </a:solidFill>
                <a:latin typeface="Montserrat"/>
                <a:ea typeface="Montserrat"/>
                <a:cs typeface="Montserrat"/>
                <a:sym typeface="Montserrat"/>
              </a:rPr>
              <a:t> </a:t>
            </a:r>
          </a:p>
        </p:txBody>
      </p:sp>
      <p:sp>
        <p:nvSpPr>
          <p:cNvPr name="TextBox 45" id="45"/>
          <p:cNvSpPr txBox="true"/>
          <p:nvPr/>
        </p:nvSpPr>
        <p:spPr>
          <a:xfrm rot="0">
            <a:off x="6538762" y="6019167"/>
            <a:ext cx="2333941" cy="445551"/>
          </a:xfrm>
          <a:prstGeom prst="rect">
            <a:avLst/>
          </a:prstGeom>
        </p:spPr>
        <p:txBody>
          <a:bodyPr anchor="t" rtlCol="false" tIns="0" lIns="0" bIns="0" rIns="0">
            <a:spAutoFit/>
          </a:bodyPr>
          <a:lstStyle/>
          <a:p>
            <a:pPr algn="ctr">
              <a:lnSpc>
                <a:spcPts val="3693"/>
              </a:lnSpc>
              <a:spcBef>
                <a:spcPct val="0"/>
              </a:spcBef>
            </a:pPr>
            <a:r>
              <a:rPr lang="en-US" sz="2638">
                <a:solidFill>
                  <a:srgbClr val="FFFFFF"/>
                </a:solidFill>
                <a:latin typeface="Montserrat"/>
                <a:ea typeface="Montserrat"/>
                <a:cs typeface="Montserrat"/>
                <a:sym typeface="Montserrat"/>
              </a:rPr>
              <a:t>Kristian Dinev</a:t>
            </a:r>
          </a:p>
        </p:txBody>
      </p:sp>
      <p:sp>
        <p:nvSpPr>
          <p:cNvPr name="TextBox 46" id="46"/>
          <p:cNvSpPr txBox="true"/>
          <p:nvPr/>
        </p:nvSpPr>
        <p:spPr>
          <a:xfrm rot="0">
            <a:off x="10714714" y="6019167"/>
            <a:ext cx="2192572" cy="445551"/>
          </a:xfrm>
          <a:prstGeom prst="rect">
            <a:avLst/>
          </a:prstGeom>
        </p:spPr>
        <p:txBody>
          <a:bodyPr anchor="t" rtlCol="false" tIns="0" lIns="0" bIns="0" rIns="0">
            <a:spAutoFit/>
          </a:bodyPr>
          <a:lstStyle/>
          <a:p>
            <a:pPr algn="ctr">
              <a:lnSpc>
                <a:spcPts val="3693"/>
              </a:lnSpc>
              <a:spcBef>
                <a:spcPct val="0"/>
              </a:spcBef>
            </a:pPr>
            <a:r>
              <a:rPr lang="en-US" sz="2638">
                <a:solidFill>
                  <a:srgbClr val="FFFFFF"/>
                </a:solidFill>
                <a:latin typeface="Montserrat"/>
                <a:ea typeface="Montserrat"/>
                <a:cs typeface="Montserrat"/>
                <a:sym typeface="Montserrat"/>
              </a:rPr>
              <a:t>Artyom Bock</a:t>
            </a:r>
          </a:p>
        </p:txBody>
      </p:sp>
      <p:sp>
        <p:nvSpPr>
          <p:cNvPr name="TextBox 47" id="47"/>
          <p:cNvSpPr txBox="true"/>
          <p:nvPr/>
        </p:nvSpPr>
        <p:spPr>
          <a:xfrm rot="0">
            <a:off x="14937539" y="6019167"/>
            <a:ext cx="2167021" cy="445551"/>
          </a:xfrm>
          <a:prstGeom prst="rect">
            <a:avLst/>
          </a:prstGeom>
        </p:spPr>
        <p:txBody>
          <a:bodyPr anchor="t" rtlCol="false" tIns="0" lIns="0" bIns="0" rIns="0">
            <a:spAutoFit/>
          </a:bodyPr>
          <a:lstStyle/>
          <a:p>
            <a:pPr algn="ctr">
              <a:lnSpc>
                <a:spcPts val="3693"/>
              </a:lnSpc>
              <a:spcBef>
                <a:spcPct val="0"/>
              </a:spcBef>
            </a:pPr>
            <a:r>
              <a:rPr lang="en-US" sz="2638">
                <a:solidFill>
                  <a:srgbClr val="FFFFFF"/>
                </a:solidFill>
                <a:latin typeface="Montserrat"/>
                <a:ea typeface="Montserrat"/>
                <a:cs typeface="Montserrat"/>
                <a:sym typeface="Montserrat"/>
              </a:rPr>
              <a:t>Zlatin Kostov</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650744" cy="515862"/>
          </a:xfrm>
          <a:custGeom>
            <a:avLst/>
            <a:gdLst/>
            <a:ahLst/>
            <a:cxnLst/>
            <a:rect r="r" b="b" t="t" l="l"/>
            <a:pathLst>
              <a:path h="515862" w="650744">
                <a:moveTo>
                  <a:pt x="0" y="0"/>
                </a:moveTo>
                <a:lnTo>
                  <a:pt x="650744" y="0"/>
                </a:lnTo>
                <a:lnTo>
                  <a:pt x="650744" y="515862"/>
                </a:lnTo>
                <a:lnTo>
                  <a:pt x="0" y="515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1680" y="9301438"/>
            <a:ext cx="1971124" cy="19711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5" id="5"/>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6" id="6"/>
          <p:cNvSpPr/>
          <p:nvPr/>
        </p:nvSpPr>
        <p:spPr>
          <a:xfrm flipH="false" flipV="false" rot="0">
            <a:off x="972108" y="904667"/>
            <a:ext cx="763927" cy="763927"/>
          </a:xfrm>
          <a:custGeom>
            <a:avLst/>
            <a:gdLst/>
            <a:ahLst/>
            <a:cxnLst/>
            <a:rect r="r" b="b" t="t" l="l"/>
            <a:pathLst>
              <a:path h="763927" w="763927">
                <a:moveTo>
                  <a:pt x="0" y="0"/>
                </a:moveTo>
                <a:lnTo>
                  <a:pt x="763928" y="0"/>
                </a:lnTo>
                <a:lnTo>
                  <a:pt x="763928" y="763928"/>
                </a:lnTo>
                <a:lnTo>
                  <a:pt x="0" y="763928"/>
                </a:lnTo>
                <a:lnTo>
                  <a:pt x="0" y="0"/>
                </a:lnTo>
                <a:close/>
              </a:path>
            </a:pathLst>
          </a:custGeom>
          <a:blipFill>
            <a:blip r:embed="rId4"/>
            <a:stretch>
              <a:fillRect l="0" t="0" r="0" b="0"/>
            </a:stretch>
          </a:blipFill>
        </p:spPr>
      </p:sp>
      <p:sp>
        <p:nvSpPr>
          <p:cNvPr name="TextBox 7" id="7"/>
          <p:cNvSpPr txBox="true"/>
          <p:nvPr/>
        </p:nvSpPr>
        <p:spPr>
          <a:xfrm rot="0">
            <a:off x="1880696" y="1055868"/>
            <a:ext cx="3293004" cy="413901"/>
          </a:xfrm>
          <a:prstGeom prst="rect">
            <a:avLst/>
          </a:prstGeom>
        </p:spPr>
        <p:txBody>
          <a:bodyPr anchor="t" rtlCol="false" tIns="0" lIns="0" bIns="0" rIns="0">
            <a:spAutoFit/>
          </a:bodyPr>
          <a:lstStyle/>
          <a:p>
            <a:pPr algn="l">
              <a:lnSpc>
                <a:spcPts val="3436"/>
              </a:lnSpc>
            </a:pPr>
            <a:r>
              <a:rPr lang="en-US" sz="2454" b="true">
                <a:solidFill>
                  <a:srgbClr val="FFFFFF"/>
                </a:solidFill>
                <a:latin typeface="Montserrat Bold"/>
                <a:ea typeface="Montserrat Bold"/>
                <a:cs typeface="Montserrat Bold"/>
                <a:sym typeface="Montserrat Bold"/>
              </a:rPr>
              <a:t>Lapis Technologies</a:t>
            </a:r>
          </a:p>
        </p:txBody>
      </p:sp>
      <p:sp>
        <p:nvSpPr>
          <p:cNvPr name="TextBox 8" id="8"/>
          <p:cNvSpPr txBox="true"/>
          <p:nvPr/>
        </p:nvSpPr>
        <p:spPr>
          <a:xfrm rot="0">
            <a:off x="10104406" y="757994"/>
            <a:ext cx="8983857" cy="1057275"/>
          </a:xfrm>
          <a:prstGeom prst="rect">
            <a:avLst/>
          </a:prstGeom>
        </p:spPr>
        <p:txBody>
          <a:bodyPr anchor="t" rtlCol="false" tIns="0" lIns="0" bIns="0" rIns="0">
            <a:spAutoFit/>
          </a:bodyPr>
          <a:lstStyle/>
          <a:p>
            <a:pPr algn="l">
              <a:lnSpc>
                <a:spcPts val="8377"/>
              </a:lnSpc>
            </a:pPr>
            <a:r>
              <a:rPr lang="en-US" b="true" sz="6980">
                <a:solidFill>
                  <a:srgbClr val="015D57"/>
                </a:solidFill>
                <a:latin typeface="Montserrat Bold"/>
                <a:ea typeface="Montserrat Bold"/>
                <a:cs typeface="Montserrat Bold"/>
                <a:sym typeface="Montserrat Bold"/>
              </a:rPr>
              <a:t>OUR MISSION</a:t>
            </a:r>
          </a:p>
        </p:txBody>
      </p:sp>
      <p:sp>
        <p:nvSpPr>
          <p:cNvPr name="TextBox 9" id="9"/>
          <p:cNvSpPr txBox="true"/>
          <p:nvPr/>
        </p:nvSpPr>
        <p:spPr>
          <a:xfrm rot="0">
            <a:off x="972108" y="2426126"/>
            <a:ext cx="12174571" cy="2248102"/>
          </a:xfrm>
          <a:prstGeom prst="rect">
            <a:avLst/>
          </a:prstGeom>
        </p:spPr>
        <p:txBody>
          <a:bodyPr anchor="t" rtlCol="false" tIns="0" lIns="0" bIns="0" rIns="0">
            <a:spAutoFit/>
          </a:bodyPr>
          <a:lstStyle/>
          <a:p>
            <a:pPr algn="l">
              <a:lnSpc>
                <a:spcPts val="3648"/>
              </a:lnSpc>
            </a:pPr>
            <a:r>
              <a:rPr lang="en-US" sz="2606" spc="166" b="true">
                <a:solidFill>
                  <a:srgbClr val="4EA46A"/>
                </a:solidFill>
                <a:latin typeface="Montserrat Bold"/>
                <a:ea typeface="Montserrat Bold"/>
                <a:cs typeface="Montserrat Bold"/>
                <a:sym typeface="Montserrat Bold"/>
              </a:rPr>
              <a:t>Lapis Technologies is a desktop application that lets users manage a store inventory, track their stock efficiently, and calculate total values recursively. Users can search for specific products and view important details such as the price  and the available quantity.</a:t>
            </a:r>
          </a:p>
        </p:txBody>
      </p:sp>
      <p:sp>
        <p:nvSpPr>
          <p:cNvPr name="TextBox 10" id="10"/>
          <p:cNvSpPr txBox="true"/>
          <p:nvPr/>
        </p:nvSpPr>
        <p:spPr>
          <a:xfrm rot="0">
            <a:off x="972108" y="5010150"/>
            <a:ext cx="9536819" cy="2821153"/>
          </a:xfrm>
          <a:prstGeom prst="rect">
            <a:avLst/>
          </a:prstGeom>
        </p:spPr>
        <p:txBody>
          <a:bodyPr anchor="t" rtlCol="false" tIns="0" lIns="0" bIns="0" rIns="0">
            <a:spAutoFit/>
          </a:bodyPr>
          <a:lstStyle/>
          <a:p>
            <a:pPr algn="l" marL="0" indent="0" lvl="0">
              <a:lnSpc>
                <a:spcPts val="4543"/>
              </a:lnSpc>
              <a:spcBef>
                <a:spcPct val="0"/>
              </a:spcBef>
            </a:pPr>
            <a:r>
              <a:rPr lang="en-US" b="true" sz="2672">
                <a:solidFill>
                  <a:srgbClr val="4EA46A">
                    <a:alpha val="80000"/>
                  </a:srgbClr>
                </a:solidFill>
                <a:latin typeface="Open Sans Bold"/>
                <a:ea typeface="Open Sans Bold"/>
                <a:cs typeface="Open Sans Bold"/>
                <a:sym typeface="Open Sans Bold"/>
              </a:rPr>
              <a:t>Th</a:t>
            </a:r>
            <a:r>
              <a:rPr lang="en-US" b="true" sz="2672" strike="noStrike" u="none">
                <a:solidFill>
                  <a:srgbClr val="4EA46A">
                    <a:alpha val="80000"/>
                  </a:srgbClr>
                </a:solidFill>
                <a:latin typeface="Open Sans Bold"/>
                <a:ea typeface="Open Sans Bold"/>
                <a:cs typeface="Open Sans Bold"/>
                <a:sym typeface="Open Sans Bold"/>
              </a:rPr>
              <a:t>e app also helps people organize their items in one place. By utilizing smart recursive algorithms, the system automatically calculates the total market value of the inventory, making it easier to run a business with a clean, table-based Graphical User Interface.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5562"/>
            <a:ext cx="650744" cy="515862"/>
          </a:xfrm>
          <a:custGeom>
            <a:avLst/>
            <a:gdLst/>
            <a:ahLst/>
            <a:cxnLst/>
            <a:rect r="r" b="b" t="t" l="l"/>
            <a:pathLst>
              <a:path h="515862" w="650744">
                <a:moveTo>
                  <a:pt x="0" y="0"/>
                </a:moveTo>
                <a:lnTo>
                  <a:pt x="650744" y="0"/>
                </a:lnTo>
                <a:lnTo>
                  <a:pt x="650744" y="515862"/>
                </a:lnTo>
                <a:lnTo>
                  <a:pt x="0" y="515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33194" y="2275512"/>
            <a:ext cx="2572139" cy="2367853"/>
            <a:chOff x="0" y="0"/>
            <a:chExt cx="677436" cy="623632"/>
          </a:xfrm>
        </p:grpSpPr>
        <p:sp>
          <p:nvSpPr>
            <p:cNvPr name="Freeform 4" id="4"/>
            <p:cNvSpPr/>
            <p:nvPr/>
          </p:nvSpPr>
          <p:spPr>
            <a:xfrm flipH="false" flipV="false" rot="0">
              <a:off x="0" y="0"/>
              <a:ext cx="677436" cy="623632"/>
            </a:xfrm>
            <a:custGeom>
              <a:avLst/>
              <a:gdLst/>
              <a:ahLst/>
              <a:cxnLst/>
              <a:rect r="r" b="b" t="t" l="l"/>
              <a:pathLst>
                <a:path h="623632" w="677436">
                  <a:moveTo>
                    <a:pt x="60198" y="0"/>
                  </a:moveTo>
                  <a:lnTo>
                    <a:pt x="617238" y="0"/>
                  </a:lnTo>
                  <a:cubicBezTo>
                    <a:pt x="650484" y="0"/>
                    <a:pt x="677436" y="26952"/>
                    <a:pt x="677436" y="60198"/>
                  </a:cubicBezTo>
                  <a:lnTo>
                    <a:pt x="677436" y="563434"/>
                  </a:lnTo>
                  <a:cubicBezTo>
                    <a:pt x="677436" y="596680"/>
                    <a:pt x="650484" y="623632"/>
                    <a:pt x="617238" y="623632"/>
                  </a:cubicBezTo>
                  <a:lnTo>
                    <a:pt x="60198" y="623632"/>
                  </a:lnTo>
                  <a:cubicBezTo>
                    <a:pt x="26952" y="623632"/>
                    <a:pt x="0" y="596680"/>
                    <a:pt x="0" y="563434"/>
                  </a:cubicBezTo>
                  <a:lnTo>
                    <a:pt x="0" y="60198"/>
                  </a:lnTo>
                  <a:cubicBezTo>
                    <a:pt x="0" y="26952"/>
                    <a:pt x="26952" y="0"/>
                    <a:pt x="60198" y="0"/>
                  </a:cubicBezTo>
                  <a:close/>
                </a:path>
              </a:pathLst>
            </a:custGeom>
            <a:gradFill rotWithShape="true">
              <a:gsLst>
                <a:gs pos="0">
                  <a:srgbClr val="4EA46A">
                    <a:alpha val="100000"/>
                  </a:srgbClr>
                </a:gs>
                <a:gs pos="100000">
                  <a:srgbClr val="005C57">
                    <a:alpha val="100000"/>
                  </a:srgbClr>
                </a:gs>
              </a:gsLst>
              <a:lin ang="0"/>
            </a:gradFill>
          </p:spPr>
        </p:sp>
        <p:sp>
          <p:nvSpPr>
            <p:cNvPr name="TextBox 5" id="5"/>
            <p:cNvSpPr txBox="true"/>
            <p:nvPr/>
          </p:nvSpPr>
          <p:spPr>
            <a:xfrm>
              <a:off x="0" y="-28575"/>
              <a:ext cx="677436" cy="652207"/>
            </a:xfrm>
            <a:prstGeom prst="rect">
              <a:avLst/>
            </a:prstGeom>
          </p:spPr>
          <p:txBody>
            <a:bodyPr anchor="ctr" rtlCol="false" tIns="50800" lIns="50800" bIns="50800" rIns="50800"/>
            <a:lstStyle/>
            <a:p>
              <a:pPr algn="ctr">
                <a:lnSpc>
                  <a:spcPts val="2799"/>
                </a:lnSpc>
              </a:pPr>
              <a:r>
                <a:rPr lang="en-US" sz="1999">
                  <a:solidFill>
                    <a:srgbClr val="FFFFFF"/>
                  </a:solidFill>
                  <a:latin typeface="Montserrat"/>
                  <a:ea typeface="Montserrat"/>
                  <a:cs typeface="Montserrat"/>
                  <a:sym typeface="Montserrat"/>
                </a:rPr>
                <a:t> </a:t>
              </a:r>
            </a:p>
          </p:txBody>
        </p:sp>
      </p:grpSp>
      <p:grpSp>
        <p:nvGrpSpPr>
          <p:cNvPr name="Group 6" id="6"/>
          <p:cNvGrpSpPr/>
          <p:nvPr/>
        </p:nvGrpSpPr>
        <p:grpSpPr>
          <a:xfrm rot="0">
            <a:off x="15874981" y="3688691"/>
            <a:ext cx="243672" cy="24367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5466798" y="3354631"/>
            <a:ext cx="408184" cy="40818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1" id="11"/>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2" id="12"/>
          <p:cNvGrpSpPr/>
          <p:nvPr/>
        </p:nvGrpSpPr>
        <p:grpSpPr>
          <a:xfrm rot="0">
            <a:off x="17738627" y="8934113"/>
            <a:ext cx="1971124" cy="197112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
        <p:nvSpPr>
          <p:cNvPr name="Freeform 15" id="15"/>
          <p:cNvSpPr/>
          <p:nvPr/>
        </p:nvSpPr>
        <p:spPr>
          <a:xfrm flipH="false" flipV="false" rot="0">
            <a:off x="905255" y="716399"/>
            <a:ext cx="774189" cy="774189"/>
          </a:xfrm>
          <a:custGeom>
            <a:avLst/>
            <a:gdLst/>
            <a:ahLst/>
            <a:cxnLst/>
            <a:rect r="r" b="b" t="t" l="l"/>
            <a:pathLst>
              <a:path h="774189" w="774189">
                <a:moveTo>
                  <a:pt x="0" y="0"/>
                </a:moveTo>
                <a:lnTo>
                  <a:pt x="774189" y="0"/>
                </a:lnTo>
                <a:lnTo>
                  <a:pt x="774189" y="774189"/>
                </a:lnTo>
                <a:lnTo>
                  <a:pt x="0" y="774189"/>
                </a:lnTo>
                <a:lnTo>
                  <a:pt x="0" y="0"/>
                </a:lnTo>
                <a:close/>
              </a:path>
            </a:pathLst>
          </a:custGeom>
          <a:blipFill>
            <a:blip r:embed="rId4"/>
            <a:stretch>
              <a:fillRect l="0" t="0" r="0" b="0"/>
            </a:stretch>
          </a:blipFill>
        </p:spPr>
      </p:sp>
      <p:grpSp>
        <p:nvGrpSpPr>
          <p:cNvPr name="Group 16" id="16"/>
          <p:cNvGrpSpPr/>
          <p:nvPr/>
        </p:nvGrpSpPr>
        <p:grpSpPr>
          <a:xfrm rot="0">
            <a:off x="5406795" y="2325154"/>
            <a:ext cx="2572139" cy="2367853"/>
            <a:chOff x="0" y="0"/>
            <a:chExt cx="677436" cy="623632"/>
          </a:xfrm>
        </p:grpSpPr>
        <p:sp>
          <p:nvSpPr>
            <p:cNvPr name="Freeform 17" id="17"/>
            <p:cNvSpPr/>
            <p:nvPr/>
          </p:nvSpPr>
          <p:spPr>
            <a:xfrm flipH="false" flipV="false" rot="0">
              <a:off x="0" y="0"/>
              <a:ext cx="677436" cy="623632"/>
            </a:xfrm>
            <a:custGeom>
              <a:avLst/>
              <a:gdLst/>
              <a:ahLst/>
              <a:cxnLst/>
              <a:rect r="r" b="b" t="t" l="l"/>
              <a:pathLst>
                <a:path h="623632" w="677436">
                  <a:moveTo>
                    <a:pt x="60198" y="0"/>
                  </a:moveTo>
                  <a:lnTo>
                    <a:pt x="617238" y="0"/>
                  </a:lnTo>
                  <a:cubicBezTo>
                    <a:pt x="650484" y="0"/>
                    <a:pt x="677436" y="26952"/>
                    <a:pt x="677436" y="60198"/>
                  </a:cubicBezTo>
                  <a:lnTo>
                    <a:pt x="677436" y="563434"/>
                  </a:lnTo>
                  <a:cubicBezTo>
                    <a:pt x="677436" y="596680"/>
                    <a:pt x="650484" y="623632"/>
                    <a:pt x="617238" y="623632"/>
                  </a:cubicBezTo>
                  <a:lnTo>
                    <a:pt x="60198" y="623632"/>
                  </a:lnTo>
                  <a:cubicBezTo>
                    <a:pt x="26952" y="623632"/>
                    <a:pt x="0" y="596680"/>
                    <a:pt x="0" y="563434"/>
                  </a:cubicBezTo>
                  <a:lnTo>
                    <a:pt x="0" y="60198"/>
                  </a:lnTo>
                  <a:cubicBezTo>
                    <a:pt x="0" y="26952"/>
                    <a:pt x="26952" y="0"/>
                    <a:pt x="60198" y="0"/>
                  </a:cubicBezTo>
                  <a:close/>
                </a:path>
              </a:pathLst>
            </a:custGeom>
            <a:gradFill rotWithShape="true">
              <a:gsLst>
                <a:gs pos="0">
                  <a:srgbClr val="4EA46A">
                    <a:alpha val="100000"/>
                  </a:srgbClr>
                </a:gs>
                <a:gs pos="100000">
                  <a:srgbClr val="005C57">
                    <a:alpha val="100000"/>
                  </a:srgbClr>
                </a:gs>
              </a:gsLst>
              <a:lin ang="0"/>
            </a:gradFill>
          </p:spPr>
        </p:sp>
        <p:sp>
          <p:nvSpPr>
            <p:cNvPr name="TextBox 18" id="18"/>
            <p:cNvSpPr txBox="true"/>
            <p:nvPr/>
          </p:nvSpPr>
          <p:spPr>
            <a:xfrm>
              <a:off x="0" y="-28575"/>
              <a:ext cx="677436" cy="652207"/>
            </a:xfrm>
            <a:prstGeom prst="rect">
              <a:avLst/>
            </a:prstGeom>
          </p:spPr>
          <p:txBody>
            <a:bodyPr anchor="ctr" rtlCol="false" tIns="50800" lIns="50800" bIns="50800" rIns="50800"/>
            <a:lstStyle/>
            <a:p>
              <a:pPr algn="ctr">
                <a:lnSpc>
                  <a:spcPts val="2799"/>
                </a:lnSpc>
              </a:pPr>
              <a:r>
                <a:rPr lang="en-US" sz="1999">
                  <a:solidFill>
                    <a:srgbClr val="FFFFFF"/>
                  </a:solidFill>
                  <a:latin typeface="Montserrat"/>
                  <a:ea typeface="Montserrat"/>
                  <a:cs typeface="Montserrat"/>
                  <a:sym typeface="Montserrat"/>
                </a:rPr>
                <a:t> </a:t>
              </a:r>
            </a:p>
          </p:txBody>
        </p:sp>
      </p:grpSp>
      <p:grpSp>
        <p:nvGrpSpPr>
          <p:cNvPr name="Group 19" id="19"/>
          <p:cNvGrpSpPr/>
          <p:nvPr/>
        </p:nvGrpSpPr>
        <p:grpSpPr>
          <a:xfrm rot="0">
            <a:off x="10017284" y="2374797"/>
            <a:ext cx="2572139" cy="2367853"/>
            <a:chOff x="0" y="0"/>
            <a:chExt cx="677436" cy="623632"/>
          </a:xfrm>
        </p:grpSpPr>
        <p:sp>
          <p:nvSpPr>
            <p:cNvPr name="Freeform 20" id="20"/>
            <p:cNvSpPr/>
            <p:nvPr/>
          </p:nvSpPr>
          <p:spPr>
            <a:xfrm flipH="false" flipV="false" rot="0">
              <a:off x="0" y="0"/>
              <a:ext cx="677436" cy="623632"/>
            </a:xfrm>
            <a:custGeom>
              <a:avLst/>
              <a:gdLst/>
              <a:ahLst/>
              <a:cxnLst/>
              <a:rect r="r" b="b" t="t" l="l"/>
              <a:pathLst>
                <a:path h="623632" w="677436">
                  <a:moveTo>
                    <a:pt x="60198" y="0"/>
                  </a:moveTo>
                  <a:lnTo>
                    <a:pt x="617238" y="0"/>
                  </a:lnTo>
                  <a:cubicBezTo>
                    <a:pt x="650484" y="0"/>
                    <a:pt x="677436" y="26952"/>
                    <a:pt x="677436" y="60198"/>
                  </a:cubicBezTo>
                  <a:lnTo>
                    <a:pt x="677436" y="563434"/>
                  </a:lnTo>
                  <a:cubicBezTo>
                    <a:pt x="677436" y="596680"/>
                    <a:pt x="650484" y="623632"/>
                    <a:pt x="617238" y="623632"/>
                  </a:cubicBezTo>
                  <a:lnTo>
                    <a:pt x="60198" y="623632"/>
                  </a:lnTo>
                  <a:cubicBezTo>
                    <a:pt x="26952" y="623632"/>
                    <a:pt x="0" y="596680"/>
                    <a:pt x="0" y="563434"/>
                  </a:cubicBezTo>
                  <a:lnTo>
                    <a:pt x="0" y="60198"/>
                  </a:lnTo>
                  <a:cubicBezTo>
                    <a:pt x="0" y="26952"/>
                    <a:pt x="26952" y="0"/>
                    <a:pt x="60198" y="0"/>
                  </a:cubicBezTo>
                  <a:close/>
                </a:path>
              </a:pathLst>
            </a:custGeom>
            <a:gradFill rotWithShape="true">
              <a:gsLst>
                <a:gs pos="0">
                  <a:srgbClr val="4EA46A">
                    <a:alpha val="100000"/>
                  </a:srgbClr>
                </a:gs>
                <a:gs pos="100000">
                  <a:srgbClr val="005C57">
                    <a:alpha val="100000"/>
                  </a:srgbClr>
                </a:gs>
              </a:gsLst>
              <a:lin ang="0"/>
            </a:gradFill>
          </p:spPr>
        </p:sp>
        <p:sp>
          <p:nvSpPr>
            <p:cNvPr name="TextBox 21" id="21"/>
            <p:cNvSpPr txBox="true"/>
            <p:nvPr/>
          </p:nvSpPr>
          <p:spPr>
            <a:xfrm>
              <a:off x="0" y="-28575"/>
              <a:ext cx="677436" cy="652207"/>
            </a:xfrm>
            <a:prstGeom prst="rect">
              <a:avLst/>
            </a:prstGeom>
          </p:spPr>
          <p:txBody>
            <a:bodyPr anchor="ctr" rtlCol="false" tIns="50800" lIns="50800" bIns="50800" rIns="50800"/>
            <a:lstStyle/>
            <a:p>
              <a:pPr algn="ctr">
                <a:lnSpc>
                  <a:spcPts val="2799"/>
                </a:lnSpc>
              </a:pPr>
              <a:r>
                <a:rPr lang="en-US" sz="1999">
                  <a:solidFill>
                    <a:srgbClr val="FFFFFF"/>
                  </a:solidFill>
                  <a:latin typeface="Montserrat"/>
                  <a:ea typeface="Montserrat"/>
                  <a:cs typeface="Montserrat"/>
                  <a:sym typeface="Montserrat"/>
                </a:rPr>
                <a:t> </a:t>
              </a:r>
            </a:p>
          </p:txBody>
        </p:sp>
      </p:grpSp>
      <p:grpSp>
        <p:nvGrpSpPr>
          <p:cNvPr name="Group 22" id="22"/>
          <p:cNvGrpSpPr/>
          <p:nvPr/>
        </p:nvGrpSpPr>
        <p:grpSpPr>
          <a:xfrm rot="0">
            <a:off x="14627773" y="2374797"/>
            <a:ext cx="2572139" cy="2367853"/>
            <a:chOff x="0" y="0"/>
            <a:chExt cx="677436" cy="623632"/>
          </a:xfrm>
        </p:grpSpPr>
        <p:sp>
          <p:nvSpPr>
            <p:cNvPr name="Freeform 23" id="23"/>
            <p:cNvSpPr/>
            <p:nvPr/>
          </p:nvSpPr>
          <p:spPr>
            <a:xfrm flipH="false" flipV="false" rot="0">
              <a:off x="0" y="0"/>
              <a:ext cx="677436" cy="623632"/>
            </a:xfrm>
            <a:custGeom>
              <a:avLst/>
              <a:gdLst/>
              <a:ahLst/>
              <a:cxnLst/>
              <a:rect r="r" b="b" t="t" l="l"/>
              <a:pathLst>
                <a:path h="623632" w="677436">
                  <a:moveTo>
                    <a:pt x="60198" y="0"/>
                  </a:moveTo>
                  <a:lnTo>
                    <a:pt x="617238" y="0"/>
                  </a:lnTo>
                  <a:cubicBezTo>
                    <a:pt x="650484" y="0"/>
                    <a:pt x="677436" y="26952"/>
                    <a:pt x="677436" y="60198"/>
                  </a:cubicBezTo>
                  <a:lnTo>
                    <a:pt x="677436" y="563434"/>
                  </a:lnTo>
                  <a:cubicBezTo>
                    <a:pt x="677436" y="596680"/>
                    <a:pt x="650484" y="623632"/>
                    <a:pt x="617238" y="623632"/>
                  </a:cubicBezTo>
                  <a:lnTo>
                    <a:pt x="60198" y="623632"/>
                  </a:lnTo>
                  <a:cubicBezTo>
                    <a:pt x="26952" y="623632"/>
                    <a:pt x="0" y="596680"/>
                    <a:pt x="0" y="563434"/>
                  </a:cubicBezTo>
                  <a:lnTo>
                    <a:pt x="0" y="60198"/>
                  </a:lnTo>
                  <a:cubicBezTo>
                    <a:pt x="0" y="26952"/>
                    <a:pt x="26952" y="0"/>
                    <a:pt x="60198" y="0"/>
                  </a:cubicBezTo>
                  <a:close/>
                </a:path>
              </a:pathLst>
            </a:custGeom>
            <a:gradFill rotWithShape="true">
              <a:gsLst>
                <a:gs pos="0">
                  <a:srgbClr val="4EA46A">
                    <a:alpha val="100000"/>
                  </a:srgbClr>
                </a:gs>
                <a:gs pos="100000">
                  <a:srgbClr val="005C57">
                    <a:alpha val="100000"/>
                  </a:srgbClr>
                </a:gs>
              </a:gsLst>
              <a:lin ang="0"/>
            </a:gradFill>
          </p:spPr>
        </p:sp>
        <p:sp>
          <p:nvSpPr>
            <p:cNvPr name="TextBox 24" id="24"/>
            <p:cNvSpPr txBox="true"/>
            <p:nvPr/>
          </p:nvSpPr>
          <p:spPr>
            <a:xfrm>
              <a:off x="0" y="-28575"/>
              <a:ext cx="677436" cy="652207"/>
            </a:xfrm>
            <a:prstGeom prst="rect">
              <a:avLst/>
            </a:prstGeom>
          </p:spPr>
          <p:txBody>
            <a:bodyPr anchor="ctr" rtlCol="false" tIns="50800" lIns="50800" bIns="50800" rIns="50800"/>
            <a:lstStyle/>
            <a:p>
              <a:pPr algn="ctr">
                <a:lnSpc>
                  <a:spcPts val="2799"/>
                </a:lnSpc>
              </a:pPr>
              <a:r>
                <a:rPr lang="en-US" sz="1999">
                  <a:solidFill>
                    <a:srgbClr val="FFFFFF"/>
                  </a:solidFill>
                  <a:latin typeface="Montserrat"/>
                  <a:ea typeface="Montserrat"/>
                  <a:cs typeface="Montserrat"/>
                  <a:sym typeface="Montserrat"/>
                </a:rPr>
                <a:t> </a:t>
              </a:r>
            </a:p>
          </p:txBody>
        </p:sp>
      </p:grpSp>
      <p:grpSp>
        <p:nvGrpSpPr>
          <p:cNvPr name="Group 25" id="25"/>
          <p:cNvGrpSpPr/>
          <p:nvPr/>
        </p:nvGrpSpPr>
        <p:grpSpPr>
          <a:xfrm rot="0">
            <a:off x="3247441" y="6311384"/>
            <a:ext cx="2572139" cy="2367853"/>
            <a:chOff x="0" y="0"/>
            <a:chExt cx="677436" cy="623632"/>
          </a:xfrm>
        </p:grpSpPr>
        <p:sp>
          <p:nvSpPr>
            <p:cNvPr name="Freeform 26" id="26"/>
            <p:cNvSpPr/>
            <p:nvPr/>
          </p:nvSpPr>
          <p:spPr>
            <a:xfrm flipH="false" flipV="false" rot="0">
              <a:off x="0" y="0"/>
              <a:ext cx="677436" cy="623632"/>
            </a:xfrm>
            <a:custGeom>
              <a:avLst/>
              <a:gdLst/>
              <a:ahLst/>
              <a:cxnLst/>
              <a:rect r="r" b="b" t="t" l="l"/>
              <a:pathLst>
                <a:path h="623632" w="677436">
                  <a:moveTo>
                    <a:pt x="60198" y="0"/>
                  </a:moveTo>
                  <a:lnTo>
                    <a:pt x="617238" y="0"/>
                  </a:lnTo>
                  <a:cubicBezTo>
                    <a:pt x="650484" y="0"/>
                    <a:pt x="677436" y="26952"/>
                    <a:pt x="677436" y="60198"/>
                  </a:cubicBezTo>
                  <a:lnTo>
                    <a:pt x="677436" y="563434"/>
                  </a:lnTo>
                  <a:cubicBezTo>
                    <a:pt x="677436" y="596680"/>
                    <a:pt x="650484" y="623632"/>
                    <a:pt x="617238" y="623632"/>
                  </a:cubicBezTo>
                  <a:lnTo>
                    <a:pt x="60198" y="623632"/>
                  </a:lnTo>
                  <a:cubicBezTo>
                    <a:pt x="26952" y="623632"/>
                    <a:pt x="0" y="596680"/>
                    <a:pt x="0" y="563434"/>
                  </a:cubicBezTo>
                  <a:lnTo>
                    <a:pt x="0" y="60198"/>
                  </a:lnTo>
                  <a:cubicBezTo>
                    <a:pt x="0" y="26952"/>
                    <a:pt x="26952" y="0"/>
                    <a:pt x="60198" y="0"/>
                  </a:cubicBezTo>
                  <a:close/>
                </a:path>
              </a:pathLst>
            </a:custGeom>
            <a:gradFill rotWithShape="true">
              <a:gsLst>
                <a:gs pos="0">
                  <a:srgbClr val="4EA46A">
                    <a:alpha val="100000"/>
                  </a:srgbClr>
                </a:gs>
                <a:gs pos="100000">
                  <a:srgbClr val="005C57">
                    <a:alpha val="100000"/>
                  </a:srgbClr>
                </a:gs>
              </a:gsLst>
              <a:lin ang="0"/>
            </a:gradFill>
          </p:spPr>
        </p:sp>
        <p:sp>
          <p:nvSpPr>
            <p:cNvPr name="TextBox 27" id="27"/>
            <p:cNvSpPr txBox="true"/>
            <p:nvPr/>
          </p:nvSpPr>
          <p:spPr>
            <a:xfrm>
              <a:off x="0" y="-28575"/>
              <a:ext cx="677436" cy="652207"/>
            </a:xfrm>
            <a:prstGeom prst="rect">
              <a:avLst/>
            </a:prstGeom>
          </p:spPr>
          <p:txBody>
            <a:bodyPr anchor="ctr" rtlCol="false" tIns="50800" lIns="50800" bIns="50800" rIns="50800"/>
            <a:lstStyle/>
            <a:p>
              <a:pPr algn="ctr">
                <a:lnSpc>
                  <a:spcPts val="2799"/>
                </a:lnSpc>
              </a:pPr>
              <a:r>
                <a:rPr lang="en-US" sz="1999">
                  <a:solidFill>
                    <a:srgbClr val="FFFFFF"/>
                  </a:solidFill>
                  <a:latin typeface="Montserrat"/>
                  <a:ea typeface="Montserrat"/>
                  <a:cs typeface="Montserrat"/>
                  <a:sym typeface="Montserrat"/>
                </a:rPr>
                <a:t> </a:t>
              </a:r>
            </a:p>
          </p:txBody>
        </p:sp>
      </p:grpSp>
      <p:grpSp>
        <p:nvGrpSpPr>
          <p:cNvPr name="Group 28" id="28"/>
          <p:cNvGrpSpPr/>
          <p:nvPr/>
        </p:nvGrpSpPr>
        <p:grpSpPr>
          <a:xfrm rot="0">
            <a:off x="7857930" y="6361026"/>
            <a:ext cx="2572139" cy="2367853"/>
            <a:chOff x="0" y="0"/>
            <a:chExt cx="677436" cy="623632"/>
          </a:xfrm>
        </p:grpSpPr>
        <p:sp>
          <p:nvSpPr>
            <p:cNvPr name="Freeform 29" id="29"/>
            <p:cNvSpPr/>
            <p:nvPr/>
          </p:nvSpPr>
          <p:spPr>
            <a:xfrm flipH="false" flipV="false" rot="0">
              <a:off x="0" y="0"/>
              <a:ext cx="677436" cy="623632"/>
            </a:xfrm>
            <a:custGeom>
              <a:avLst/>
              <a:gdLst/>
              <a:ahLst/>
              <a:cxnLst/>
              <a:rect r="r" b="b" t="t" l="l"/>
              <a:pathLst>
                <a:path h="623632" w="677436">
                  <a:moveTo>
                    <a:pt x="60198" y="0"/>
                  </a:moveTo>
                  <a:lnTo>
                    <a:pt x="617238" y="0"/>
                  </a:lnTo>
                  <a:cubicBezTo>
                    <a:pt x="650484" y="0"/>
                    <a:pt x="677436" y="26952"/>
                    <a:pt x="677436" y="60198"/>
                  </a:cubicBezTo>
                  <a:lnTo>
                    <a:pt x="677436" y="563434"/>
                  </a:lnTo>
                  <a:cubicBezTo>
                    <a:pt x="677436" y="596680"/>
                    <a:pt x="650484" y="623632"/>
                    <a:pt x="617238" y="623632"/>
                  </a:cubicBezTo>
                  <a:lnTo>
                    <a:pt x="60198" y="623632"/>
                  </a:lnTo>
                  <a:cubicBezTo>
                    <a:pt x="26952" y="623632"/>
                    <a:pt x="0" y="596680"/>
                    <a:pt x="0" y="563434"/>
                  </a:cubicBezTo>
                  <a:lnTo>
                    <a:pt x="0" y="60198"/>
                  </a:lnTo>
                  <a:cubicBezTo>
                    <a:pt x="0" y="26952"/>
                    <a:pt x="26952" y="0"/>
                    <a:pt x="60198" y="0"/>
                  </a:cubicBezTo>
                  <a:close/>
                </a:path>
              </a:pathLst>
            </a:custGeom>
            <a:gradFill rotWithShape="true">
              <a:gsLst>
                <a:gs pos="0">
                  <a:srgbClr val="4EA46A">
                    <a:alpha val="100000"/>
                  </a:srgbClr>
                </a:gs>
                <a:gs pos="100000">
                  <a:srgbClr val="005C57">
                    <a:alpha val="100000"/>
                  </a:srgbClr>
                </a:gs>
              </a:gsLst>
              <a:lin ang="0"/>
            </a:gradFill>
          </p:spPr>
        </p:sp>
        <p:sp>
          <p:nvSpPr>
            <p:cNvPr name="TextBox 30" id="30"/>
            <p:cNvSpPr txBox="true"/>
            <p:nvPr/>
          </p:nvSpPr>
          <p:spPr>
            <a:xfrm>
              <a:off x="0" y="-28575"/>
              <a:ext cx="677436" cy="652207"/>
            </a:xfrm>
            <a:prstGeom prst="rect">
              <a:avLst/>
            </a:prstGeom>
          </p:spPr>
          <p:txBody>
            <a:bodyPr anchor="ctr" rtlCol="false" tIns="50800" lIns="50800" bIns="50800" rIns="50800"/>
            <a:lstStyle/>
            <a:p>
              <a:pPr algn="ctr">
                <a:lnSpc>
                  <a:spcPts val="2799"/>
                </a:lnSpc>
              </a:pPr>
              <a:r>
                <a:rPr lang="en-US" sz="1999">
                  <a:solidFill>
                    <a:srgbClr val="FFFFFF"/>
                  </a:solidFill>
                  <a:latin typeface="Montserrat"/>
                  <a:ea typeface="Montserrat"/>
                  <a:cs typeface="Montserrat"/>
                  <a:sym typeface="Montserrat"/>
                </a:rPr>
                <a:t> </a:t>
              </a:r>
            </a:p>
          </p:txBody>
        </p:sp>
      </p:grpSp>
      <p:grpSp>
        <p:nvGrpSpPr>
          <p:cNvPr name="Group 31" id="31"/>
          <p:cNvGrpSpPr/>
          <p:nvPr/>
        </p:nvGrpSpPr>
        <p:grpSpPr>
          <a:xfrm rot="0">
            <a:off x="12468420" y="6361026"/>
            <a:ext cx="2572139" cy="2367853"/>
            <a:chOff x="0" y="0"/>
            <a:chExt cx="677436" cy="623632"/>
          </a:xfrm>
        </p:grpSpPr>
        <p:sp>
          <p:nvSpPr>
            <p:cNvPr name="Freeform 32" id="32"/>
            <p:cNvSpPr/>
            <p:nvPr/>
          </p:nvSpPr>
          <p:spPr>
            <a:xfrm flipH="false" flipV="false" rot="0">
              <a:off x="0" y="0"/>
              <a:ext cx="677436" cy="623632"/>
            </a:xfrm>
            <a:custGeom>
              <a:avLst/>
              <a:gdLst/>
              <a:ahLst/>
              <a:cxnLst/>
              <a:rect r="r" b="b" t="t" l="l"/>
              <a:pathLst>
                <a:path h="623632" w="677436">
                  <a:moveTo>
                    <a:pt x="60198" y="0"/>
                  </a:moveTo>
                  <a:lnTo>
                    <a:pt x="617238" y="0"/>
                  </a:lnTo>
                  <a:cubicBezTo>
                    <a:pt x="650484" y="0"/>
                    <a:pt x="677436" y="26952"/>
                    <a:pt x="677436" y="60198"/>
                  </a:cubicBezTo>
                  <a:lnTo>
                    <a:pt x="677436" y="563434"/>
                  </a:lnTo>
                  <a:cubicBezTo>
                    <a:pt x="677436" y="596680"/>
                    <a:pt x="650484" y="623632"/>
                    <a:pt x="617238" y="623632"/>
                  </a:cubicBezTo>
                  <a:lnTo>
                    <a:pt x="60198" y="623632"/>
                  </a:lnTo>
                  <a:cubicBezTo>
                    <a:pt x="26952" y="623632"/>
                    <a:pt x="0" y="596680"/>
                    <a:pt x="0" y="563434"/>
                  </a:cubicBezTo>
                  <a:lnTo>
                    <a:pt x="0" y="60198"/>
                  </a:lnTo>
                  <a:cubicBezTo>
                    <a:pt x="0" y="26952"/>
                    <a:pt x="26952" y="0"/>
                    <a:pt x="60198" y="0"/>
                  </a:cubicBezTo>
                  <a:close/>
                </a:path>
              </a:pathLst>
            </a:custGeom>
            <a:gradFill rotWithShape="true">
              <a:gsLst>
                <a:gs pos="0">
                  <a:srgbClr val="4EA46A">
                    <a:alpha val="100000"/>
                  </a:srgbClr>
                </a:gs>
                <a:gs pos="100000">
                  <a:srgbClr val="005C57">
                    <a:alpha val="100000"/>
                  </a:srgbClr>
                </a:gs>
              </a:gsLst>
              <a:lin ang="0"/>
            </a:gradFill>
          </p:spPr>
        </p:sp>
        <p:sp>
          <p:nvSpPr>
            <p:cNvPr name="TextBox 33" id="33"/>
            <p:cNvSpPr txBox="true"/>
            <p:nvPr/>
          </p:nvSpPr>
          <p:spPr>
            <a:xfrm>
              <a:off x="0" y="-28575"/>
              <a:ext cx="677436" cy="652207"/>
            </a:xfrm>
            <a:prstGeom prst="rect">
              <a:avLst/>
            </a:prstGeom>
          </p:spPr>
          <p:txBody>
            <a:bodyPr anchor="ctr" rtlCol="false" tIns="50800" lIns="50800" bIns="50800" rIns="50800"/>
            <a:lstStyle/>
            <a:p>
              <a:pPr algn="ctr">
                <a:lnSpc>
                  <a:spcPts val="2799"/>
                </a:lnSpc>
              </a:pPr>
              <a:r>
                <a:rPr lang="en-US" sz="1999">
                  <a:solidFill>
                    <a:srgbClr val="FFFFFF"/>
                  </a:solidFill>
                  <a:latin typeface="Montserrat"/>
                  <a:ea typeface="Montserrat"/>
                  <a:cs typeface="Montserrat"/>
                  <a:sym typeface="Montserrat"/>
                </a:rPr>
                <a:t> </a:t>
              </a:r>
            </a:p>
          </p:txBody>
        </p:sp>
      </p:grpSp>
      <p:sp>
        <p:nvSpPr>
          <p:cNvPr name="Freeform 34" id="34"/>
          <p:cNvSpPr/>
          <p:nvPr/>
        </p:nvSpPr>
        <p:spPr>
          <a:xfrm flipH="false" flipV="false" rot="0">
            <a:off x="1275087" y="2275512"/>
            <a:ext cx="2288353" cy="2288353"/>
          </a:xfrm>
          <a:custGeom>
            <a:avLst/>
            <a:gdLst/>
            <a:ahLst/>
            <a:cxnLst/>
            <a:rect r="r" b="b" t="t" l="l"/>
            <a:pathLst>
              <a:path h="2288353" w="2288353">
                <a:moveTo>
                  <a:pt x="0" y="0"/>
                </a:moveTo>
                <a:lnTo>
                  <a:pt x="2288353" y="0"/>
                </a:lnTo>
                <a:lnTo>
                  <a:pt x="2288353" y="2288353"/>
                </a:lnTo>
                <a:lnTo>
                  <a:pt x="0" y="2288353"/>
                </a:lnTo>
                <a:lnTo>
                  <a:pt x="0" y="0"/>
                </a:lnTo>
                <a:close/>
              </a:path>
            </a:pathLst>
          </a:custGeom>
          <a:blipFill>
            <a:blip r:embed="rId5"/>
            <a:stretch>
              <a:fillRect l="0" t="0" r="0" b="0"/>
            </a:stretch>
          </a:blipFill>
        </p:spPr>
      </p:sp>
      <p:sp>
        <p:nvSpPr>
          <p:cNvPr name="Freeform 35" id="35"/>
          <p:cNvSpPr/>
          <p:nvPr/>
        </p:nvSpPr>
        <p:spPr>
          <a:xfrm flipH="false" flipV="false" rot="0">
            <a:off x="5557507" y="2624163"/>
            <a:ext cx="2270715" cy="1769836"/>
          </a:xfrm>
          <a:custGeom>
            <a:avLst/>
            <a:gdLst/>
            <a:ahLst/>
            <a:cxnLst/>
            <a:rect r="r" b="b" t="t" l="l"/>
            <a:pathLst>
              <a:path h="1769836" w="2270715">
                <a:moveTo>
                  <a:pt x="0" y="0"/>
                </a:moveTo>
                <a:lnTo>
                  <a:pt x="2270715" y="0"/>
                </a:lnTo>
                <a:lnTo>
                  <a:pt x="2270715" y="1769836"/>
                </a:lnTo>
                <a:lnTo>
                  <a:pt x="0" y="1769836"/>
                </a:lnTo>
                <a:lnTo>
                  <a:pt x="0" y="0"/>
                </a:lnTo>
                <a:close/>
              </a:path>
            </a:pathLst>
          </a:custGeom>
          <a:blipFill>
            <a:blip r:embed="rId6"/>
            <a:stretch>
              <a:fillRect l="-4506" t="0" r="-4506" b="0"/>
            </a:stretch>
          </a:blipFill>
        </p:spPr>
      </p:sp>
      <p:sp>
        <p:nvSpPr>
          <p:cNvPr name="Freeform 36" id="36"/>
          <p:cNvSpPr/>
          <p:nvPr/>
        </p:nvSpPr>
        <p:spPr>
          <a:xfrm flipH="false" flipV="false" rot="0">
            <a:off x="10309843" y="2576843"/>
            <a:ext cx="1987022" cy="1987022"/>
          </a:xfrm>
          <a:custGeom>
            <a:avLst/>
            <a:gdLst/>
            <a:ahLst/>
            <a:cxnLst/>
            <a:rect r="r" b="b" t="t" l="l"/>
            <a:pathLst>
              <a:path h="1987022" w="1987022">
                <a:moveTo>
                  <a:pt x="0" y="0"/>
                </a:moveTo>
                <a:lnTo>
                  <a:pt x="1987022" y="0"/>
                </a:lnTo>
                <a:lnTo>
                  <a:pt x="1987022" y="1987022"/>
                </a:lnTo>
                <a:lnTo>
                  <a:pt x="0" y="1987022"/>
                </a:lnTo>
                <a:lnTo>
                  <a:pt x="0" y="0"/>
                </a:lnTo>
                <a:close/>
              </a:path>
            </a:pathLst>
          </a:custGeom>
          <a:blipFill>
            <a:blip r:embed="rId7"/>
            <a:stretch>
              <a:fillRect l="0" t="0" r="0" b="0"/>
            </a:stretch>
          </a:blipFill>
        </p:spPr>
      </p:sp>
      <p:sp>
        <p:nvSpPr>
          <p:cNvPr name="Freeform 37" id="37"/>
          <p:cNvSpPr/>
          <p:nvPr/>
        </p:nvSpPr>
        <p:spPr>
          <a:xfrm flipH="false" flipV="false" rot="0">
            <a:off x="14847845" y="2492726"/>
            <a:ext cx="2131995" cy="2131995"/>
          </a:xfrm>
          <a:custGeom>
            <a:avLst/>
            <a:gdLst/>
            <a:ahLst/>
            <a:cxnLst/>
            <a:rect r="r" b="b" t="t" l="l"/>
            <a:pathLst>
              <a:path h="2131995" w="2131995">
                <a:moveTo>
                  <a:pt x="0" y="0"/>
                </a:moveTo>
                <a:lnTo>
                  <a:pt x="2131995" y="0"/>
                </a:lnTo>
                <a:lnTo>
                  <a:pt x="2131995" y="2131995"/>
                </a:lnTo>
                <a:lnTo>
                  <a:pt x="0" y="2131995"/>
                </a:lnTo>
                <a:lnTo>
                  <a:pt x="0" y="0"/>
                </a:lnTo>
                <a:close/>
              </a:path>
            </a:pathLst>
          </a:custGeom>
          <a:blipFill>
            <a:blip r:embed="rId8"/>
            <a:stretch>
              <a:fillRect l="0" t="0" r="0" b="0"/>
            </a:stretch>
          </a:blipFill>
        </p:spPr>
      </p:sp>
      <p:sp>
        <p:nvSpPr>
          <p:cNvPr name="Freeform 38" id="38"/>
          <p:cNvSpPr/>
          <p:nvPr/>
        </p:nvSpPr>
        <p:spPr>
          <a:xfrm flipH="false" flipV="false" rot="0">
            <a:off x="3547506" y="6509306"/>
            <a:ext cx="1972009" cy="1972009"/>
          </a:xfrm>
          <a:custGeom>
            <a:avLst/>
            <a:gdLst/>
            <a:ahLst/>
            <a:cxnLst/>
            <a:rect r="r" b="b" t="t" l="l"/>
            <a:pathLst>
              <a:path h="1972009" w="1972009">
                <a:moveTo>
                  <a:pt x="0" y="0"/>
                </a:moveTo>
                <a:lnTo>
                  <a:pt x="1972009" y="0"/>
                </a:lnTo>
                <a:lnTo>
                  <a:pt x="1972009" y="1972009"/>
                </a:lnTo>
                <a:lnTo>
                  <a:pt x="0" y="1972009"/>
                </a:lnTo>
                <a:lnTo>
                  <a:pt x="0" y="0"/>
                </a:lnTo>
                <a:close/>
              </a:path>
            </a:pathLst>
          </a:custGeom>
          <a:blipFill>
            <a:blip r:embed="rId9"/>
            <a:stretch>
              <a:fillRect l="0" t="0" r="0" b="0"/>
            </a:stretch>
          </a:blipFill>
        </p:spPr>
      </p:sp>
      <p:sp>
        <p:nvSpPr>
          <p:cNvPr name="Freeform 39" id="39"/>
          <p:cNvSpPr/>
          <p:nvPr/>
        </p:nvSpPr>
        <p:spPr>
          <a:xfrm flipH="false" flipV="false" rot="0">
            <a:off x="8197771" y="6545288"/>
            <a:ext cx="1892459" cy="1996155"/>
          </a:xfrm>
          <a:custGeom>
            <a:avLst/>
            <a:gdLst/>
            <a:ahLst/>
            <a:cxnLst/>
            <a:rect r="r" b="b" t="t" l="l"/>
            <a:pathLst>
              <a:path h="1996155" w="1892459">
                <a:moveTo>
                  <a:pt x="0" y="0"/>
                </a:moveTo>
                <a:lnTo>
                  <a:pt x="1892458" y="0"/>
                </a:lnTo>
                <a:lnTo>
                  <a:pt x="1892458" y="1996156"/>
                </a:lnTo>
                <a:lnTo>
                  <a:pt x="0" y="1996156"/>
                </a:lnTo>
                <a:lnTo>
                  <a:pt x="0" y="0"/>
                </a:lnTo>
                <a:close/>
              </a:path>
            </a:pathLst>
          </a:custGeom>
          <a:blipFill>
            <a:blip r:embed="rId10"/>
            <a:stretch>
              <a:fillRect l="0" t="0" r="0" b="0"/>
            </a:stretch>
          </a:blipFill>
        </p:spPr>
      </p:sp>
      <p:sp>
        <p:nvSpPr>
          <p:cNvPr name="Freeform 40" id="40"/>
          <p:cNvSpPr/>
          <p:nvPr/>
        </p:nvSpPr>
        <p:spPr>
          <a:xfrm flipH="false" flipV="false" rot="0">
            <a:off x="12735120" y="6548461"/>
            <a:ext cx="1992982" cy="1992982"/>
          </a:xfrm>
          <a:custGeom>
            <a:avLst/>
            <a:gdLst/>
            <a:ahLst/>
            <a:cxnLst/>
            <a:rect r="r" b="b" t="t" l="l"/>
            <a:pathLst>
              <a:path h="1992982" w="1992982">
                <a:moveTo>
                  <a:pt x="0" y="0"/>
                </a:moveTo>
                <a:lnTo>
                  <a:pt x="1992982" y="0"/>
                </a:lnTo>
                <a:lnTo>
                  <a:pt x="1992982" y="1992983"/>
                </a:lnTo>
                <a:lnTo>
                  <a:pt x="0" y="1992983"/>
                </a:lnTo>
                <a:lnTo>
                  <a:pt x="0" y="0"/>
                </a:lnTo>
                <a:close/>
              </a:path>
            </a:pathLst>
          </a:custGeom>
          <a:blipFill>
            <a:blip r:embed="rId11"/>
            <a:stretch>
              <a:fillRect l="0" t="0" r="0" b="0"/>
            </a:stretch>
          </a:blipFill>
        </p:spPr>
      </p:sp>
      <p:sp>
        <p:nvSpPr>
          <p:cNvPr name="TextBox 41" id="41"/>
          <p:cNvSpPr txBox="true"/>
          <p:nvPr/>
        </p:nvSpPr>
        <p:spPr>
          <a:xfrm rot="0">
            <a:off x="1882999" y="860313"/>
            <a:ext cx="3516277" cy="438735"/>
          </a:xfrm>
          <a:prstGeom prst="rect">
            <a:avLst/>
          </a:prstGeom>
        </p:spPr>
        <p:txBody>
          <a:bodyPr anchor="t" rtlCol="false" tIns="0" lIns="0" bIns="0" rIns="0">
            <a:spAutoFit/>
          </a:bodyPr>
          <a:lstStyle/>
          <a:p>
            <a:pPr algn="l">
              <a:lnSpc>
                <a:spcPts val="3669"/>
              </a:lnSpc>
            </a:pPr>
            <a:r>
              <a:rPr lang="en-US" sz="2621" b="true">
                <a:solidFill>
                  <a:srgbClr val="FFFFFF"/>
                </a:solidFill>
                <a:latin typeface="Montserrat Bold"/>
                <a:ea typeface="Montserrat Bold"/>
                <a:cs typeface="Montserrat Bold"/>
                <a:sym typeface="Montserrat Bold"/>
              </a:rPr>
              <a:t>Lapis technologies</a:t>
            </a:r>
          </a:p>
        </p:txBody>
      </p:sp>
      <p:sp>
        <p:nvSpPr>
          <p:cNvPr name="TextBox 42" id="42"/>
          <p:cNvSpPr txBox="true"/>
          <p:nvPr/>
        </p:nvSpPr>
        <p:spPr>
          <a:xfrm rot="0">
            <a:off x="5276931" y="500062"/>
            <a:ext cx="12600106" cy="1057275"/>
          </a:xfrm>
          <a:prstGeom prst="rect">
            <a:avLst/>
          </a:prstGeom>
        </p:spPr>
        <p:txBody>
          <a:bodyPr anchor="t" rtlCol="false" tIns="0" lIns="0" bIns="0" rIns="0">
            <a:spAutoFit/>
          </a:bodyPr>
          <a:lstStyle/>
          <a:p>
            <a:pPr algn="ctr">
              <a:lnSpc>
                <a:spcPts val="8377"/>
              </a:lnSpc>
            </a:pPr>
            <a:r>
              <a:rPr lang="en-US" b="true" sz="6980">
                <a:gradFill>
                  <a:gsLst>
                    <a:gs pos="0">
                      <a:srgbClr val="4EA46A">
                        <a:alpha val="100000"/>
                      </a:srgbClr>
                    </a:gs>
                    <a:gs pos="100000">
                      <a:srgbClr val="005C57">
                        <a:alpha val="100000"/>
                      </a:srgbClr>
                    </a:gs>
                  </a:gsLst>
                  <a:lin ang="0"/>
                </a:gradFill>
                <a:latin typeface="Montserrat Bold"/>
                <a:ea typeface="Montserrat Bold"/>
                <a:cs typeface="Montserrat Bold"/>
                <a:sym typeface="Montserrat Bold"/>
              </a:rPr>
              <a:t>TECH STACK</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030D33">
                <a:alpha val="100000"/>
              </a:srgbClr>
            </a:gs>
            <a:gs pos="100000">
              <a:srgbClr val="003537">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2367110" y="3431537"/>
            <a:ext cx="13553781" cy="2473177"/>
          </a:xfrm>
          <a:prstGeom prst="rect">
            <a:avLst/>
          </a:prstGeom>
        </p:spPr>
        <p:txBody>
          <a:bodyPr anchor="t" rtlCol="false" tIns="0" lIns="0" bIns="0" rIns="0">
            <a:spAutoFit/>
          </a:bodyPr>
          <a:lstStyle/>
          <a:p>
            <a:pPr algn="l">
              <a:lnSpc>
                <a:spcPts val="9612"/>
              </a:lnSpc>
            </a:pPr>
            <a:r>
              <a:rPr lang="en-US" b="true" sz="8738">
                <a:solidFill>
                  <a:srgbClr val="4EA46A"/>
                </a:solidFill>
                <a:latin typeface="Montserrat Bold"/>
                <a:ea typeface="Montserrat Bold"/>
                <a:cs typeface="Montserrat Bold"/>
                <a:sym typeface="Montserrat Bold"/>
              </a:rPr>
              <a:t>LET’S CONTINUE WITH THE DEMONSTRATION</a:t>
            </a:r>
          </a:p>
        </p:txBody>
      </p:sp>
      <p:grpSp>
        <p:nvGrpSpPr>
          <p:cNvPr name="Group 3" id="3"/>
          <p:cNvGrpSpPr/>
          <p:nvPr/>
        </p:nvGrpSpPr>
        <p:grpSpPr>
          <a:xfrm rot="0">
            <a:off x="1254367" y="8594705"/>
            <a:ext cx="425077" cy="42507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5" id="5"/>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6" id="6"/>
          <p:cNvGrpSpPr/>
          <p:nvPr/>
        </p:nvGrpSpPr>
        <p:grpSpPr>
          <a:xfrm rot="0">
            <a:off x="-418546" y="8807243"/>
            <a:ext cx="1971124" cy="19711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DAHKDpVGuI8</dc:identifier>
  <dcterms:modified xsi:type="dcterms:W3CDTF">2011-08-01T06:04:30Z</dcterms:modified>
  <cp:revision>1</cp:revision>
  <dc:title>Lapis Technologies</dc:title>
</cp:coreProperties>
</file>